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4" d="100"/>
          <a:sy n="124" d="100"/>
        </p:scale>
        <p:origin x="1146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21087" y="3045573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141470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319272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475618" y="3035261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4412450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772318" y="304796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468341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759618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5030598" y="3035261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495439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5030598" y="307336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5301577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5603025" y="3065741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5575961" y="3039246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5481104" y="3035261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87743" y="583488"/>
            <a:ext cx="5584825" cy="82550"/>
          </a:xfrm>
          <a:custGeom>
            <a:avLst/>
            <a:gdLst/>
            <a:ahLst/>
            <a:cxnLst/>
            <a:rect l="l" t="t" r="r" b="b"/>
            <a:pathLst>
              <a:path w="5584825" h="82550">
                <a:moveTo>
                  <a:pt x="553377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5584580" y="82384"/>
                </a:lnTo>
                <a:lnTo>
                  <a:pt x="5584580" y="50800"/>
                </a:lnTo>
                <a:lnTo>
                  <a:pt x="5580571" y="31075"/>
                </a:lnTo>
                <a:lnTo>
                  <a:pt x="5569657" y="14922"/>
                </a:lnTo>
                <a:lnTo>
                  <a:pt x="5553504" y="4008"/>
                </a:lnTo>
                <a:lnTo>
                  <a:pt x="5533779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38544" y="646736"/>
            <a:ext cx="5584825" cy="885825"/>
          </a:xfrm>
          <a:custGeom>
            <a:avLst/>
            <a:gdLst/>
            <a:ahLst/>
            <a:cxnLst/>
            <a:rect l="l" t="t" r="r" b="b"/>
            <a:pathLst>
              <a:path w="5584825" h="885825">
                <a:moveTo>
                  <a:pt x="5584580" y="0"/>
                </a:moveTo>
                <a:lnTo>
                  <a:pt x="0" y="0"/>
                </a:lnTo>
                <a:lnTo>
                  <a:pt x="0" y="885214"/>
                </a:lnTo>
                <a:lnTo>
                  <a:pt x="5584580" y="885214"/>
                </a:lnTo>
                <a:lnTo>
                  <a:pt x="55845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87743" y="627899"/>
            <a:ext cx="5584825" cy="853440"/>
          </a:xfrm>
          <a:custGeom>
            <a:avLst/>
            <a:gdLst/>
            <a:ahLst/>
            <a:cxnLst/>
            <a:rect l="l" t="t" r="r" b="b"/>
            <a:pathLst>
              <a:path w="5584825" h="853440">
                <a:moveTo>
                  <a:pt x="5584580" y="0"/>
                </a:moveTo>
                <a:lnTo>
                  <a:pt x="0" y="0"/>
                </a:lnTo>
                <a:lnTo>
                  <a:pt x="0" y="802450"/>
                </a:lnTo>
                <a:lnTo>
                  <a:pt x="4008" y="822175"/>
                </a:lnTo>
                <a:lnTo>
                  <a:pt x="14922" y="838328"/>
                </a:lnTo>
                <a:lnTo>
                  <a:pt x="31075" y="849242"/>
                </a:lnTo>
                <a:lnTo>
                  <a:pt x="50800" y="853250"/>
                </a:lnTo>
                <a:lnTo>
                  <a:pt x="5533779" y="853250"/>
                </a:lnTo>
                <a:lnTo>
                  <a:pt x="5553504" y="849242"/>
                </a:lnTo>
                <a:lnTo>
                  <a:pt x="5569657" y="838328"/>
                </a:lnTo>
                <a:lnTo>
                  <a:pt x="5580571" y="822175"/>
                </a:lnTo>
                <a:lnTo>
                  <a:pt x="5584580" y="802450"/>
                </a:lnTo>
                <a:lnTo>
                  <a:pt x="558458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29742" y="696186"/>
            <a:ext cx="4506315" cy="6800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60537" y="1697061"/>
            <a:ext cx="2038985" cy="753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Md.</a:t>
            </a:r>
            <a:r>
              <a:rPr spc="110" dirty="0"/>
              <a:t> </a:t>
            </a:r>
            <a:r>
              <a:rPr dirty="0"/>
              <a:t>Ashikujjaman</a:t>
            </a:r>
            <a:r>
              <a:rPr spc="35" dirty="0"/>
              <a:t> </a:t>
            </a:r>
            <a:r>
              <a:rPr dirty="0"/>
              <a:t>Nur</a:t>
            </a:r>
            <a:r>
              <a:rPr spc="35" dirty="0"/>
              <a:t> </a:t>
            </a:r>
            <a:r>
              <a:rPr dirty="0"/>
              <a:t>(IT-</a:t>
            </a:r>
            <a:r>
              <a:rPr spc="-10" dirty="0"/>
              <a:t>21013)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November</a:t>
            </a:r>
            <a:r>
              <a:rPr spc="-25" dirty="0"/>
              <a:t> </a:t>
            </a:r>
            <a:r>
              <a:rPr dirty="0"/>
              <a:t>9,</a:t>
            </a:r>
            <a:r>
              <a:rPr spc="-20" dirty="0"/>
              <a:t> 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50" dirty="0"/>
              <a:t>9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21087" y="3045573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141470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319272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475618" y="3035261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4412450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772318" y="304796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468341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759618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5030598" y="3035261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495439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5030598" y="307336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5301577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5603025" y="3065741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5575961" y="3039246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5481104" y="3035261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Md.</a:t>
            </a:r>
            <a:r>
              <a:rPr spc="110" dirty="0"/>
              <a:t> </a:t>
            </a:r>
            <a:r>
              <a:rPr dirty="0"/>
              <a:t>Ashikujjaman</a:t>
            </a:r>
            <a:r>
              <a:rPr spc="35" dirty="0"/>
              <a:t> </a:t>
            </a:r>
            <a:r>
              <a:rPr dirty="0"/>
              <a:t>Nur</a:t>
            </a:r>
            <a:r>
              <a:rPr spc="35" dirty="0"/>
              <a:t> </a:t>
            </a:r>
            <a:r>
              <a:rPr dirty="0"/>
              <a:t>(IT-</a:t>
            </a:r>
            <a:r>
              <a:rPr spc="-10" dirty="0"/>
              <a:t>21013)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November</a:t>
            </a:r>
            <a:r>
              <a:rPr spc="-25" dirty="0"/>
              <a:t> </a:t>
            </a:r>
            <a:r>
              <a:rPr dirty="0"/>
              <a:t>9,</a:t>
            </a:r>
            <a:r>
              <a:rPr spc="-20" dirty="0"/>
              <a:t> 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50" dirty="0"/>
              <a:t>9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Md.</a:t>
            </a:r>
            <a:r>
              <a:rPr spc="110" dirty="0"/>
              <a:t> </a:t>
            </a:r>
            <a:r>
              <a:rPr dirty="0"/>
              <a:t>Ashikujjaman</a:t>
            </a:r>
            <a:r>
              <a:rPr spc="35" dirty="0"/>
              <a:t> </a:t>
            </a:r>
            <a:r>
              <a:rPr dirty="0"/>
              <a:t>Nur</a:t>
            </a:r>
            <a:r>
              <a:rPr spc="35" dirty="0"/>
              <a:t> </a:t>
            </a:r>
            <a:r>
              <a:rPr dirty="0"/>
              <a:t>(IT-</a:t>
            </a:r>
            <a:r>
              <a:rPr spc="-10" dirty="0"/>
              <a:t>21013)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November</a:t>
            </a:r>
            <a:r>
              <a:rPr spc="-25" dirty="0"/>
              <a:t> </a:t>
            </a:r>
            <a:r>
              <a:rPr dirty="0"/>
              <a:t>9,</a:t>
            </a:r>
            <a:r>
              <a:rPr spc="-20" dirty="0"/>
              <a:t> 2025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50" dirty="0"/>
              <a:t>9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Md.</a:t>
            </a:r>
            <a:r>
              <a:rPr spc="110" dirty="0"/>
              <a:t> </a:t>
            </a:r>
            <a:r>
              <a:rPr dirty="0"/>
              <a:t>Ashikujjaman</a:t>
            </a:r>
            <a:r>
              <a:rPr spc="35" dirty="0"/>
              <a:t> </a:t>
            </a:r>
            <a:r>
              <a:rPr dirty="0"/>
              <a:t>Nur</a:t>
            </a:r>
            <a:r>
              <a:rPr spc="35" dirty="0"/>
              <a:t> </a:t>
            </a:r>
            <a:r>
              <a:rPr dirty="0"/>
              <a:t>(IT-</a:t>
            </a:r>
            <a:r>
              <a:rPr spc="-10" dirty="0"/>
              <a:t>21013)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November</a:t>
            </a:r>
            <a:r>
              <a:rPr spc="-25" dirty="0"/>
              <a:t> </a:t>
            </a:r>
            <a:r>
              <a:rPr dirty="0"/>
              <a:t>9,</a:t>
            </a:r>
            <a:r>
              <a:rPr spc="-20" dirty="0"/>
              <a:t> 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50" dirty="0"/>
              <a:t>9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21087" y="3045573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141470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319272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475618" y="3035261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4412450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772318" y="304796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468341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759618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5030598" y="3035261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495439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5030598" y="307336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5301577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5603025" y="3065741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5575961" y="3039246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5481104" y="3035261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Md.</a:t>
            </a:r>
            <a:r>
              <a:rPr spc="110" dirty="0"/>
              <a:t> </a:t>
            </a:r>
            <a:r>
              <a:rPr dirty="0"/>
              <a:t>Ashikujjaman</a:t>
            </a:r>
            <a:r>
              <a:rPr spc="35" dirty="0"/>
              <a:t> </a:t>
            </a:r>
            <a:r>
              <a:rPr dirty="0"/>
              <a:t>Nur</a:t>
            </a:r>
            <a:r>
              <a:rPr spc="35" dirty="0"/>
              <a:t> </a:t>
            </a:r>
            <a:r>
              <a:rPr dirty="0"/>
              <a:t>(IT-</a:t>
            </a:r>
            <a:r>
              <a:rPr spc="-10" dirty="0"/>
              <a:t>21013)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November</a:t>
            </a:r>
            <a:r>
              <a:rPr spc="-25" dirty="0"/>
              <a:t> </a:t>
            </a:r>
            <a:r>
              <a:rPr dirty="0"/>
              <a:t>9,</a:t>
            </a:r>
            <a:r>
              <a:rPr spc="-20" dirty="0"/>
              <a:t> 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50" dirty="0"/>
              <a:t>9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21087" y="3045573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141470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319272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475618" y="3035261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4412450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772318" y="304796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468341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759618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5030598" y="3035261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495439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5030598" y="307336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5301577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5603025" y="3065741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5575961" y="3039246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5481104" y="3035261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7"/>
            <a:ext cx="419036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32" y="907489"/>
            <a:ext cx="5066665" cy="1490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1391" y="3105948"/>
            <a:ext cx="1196975" cy="137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Md.</a:t>
            </a:r>
            <a:r>
              <a:rPr spc="110" dirty="0"/>
              <a:t> </a:t>
            </a:r>
            <a:r>
              <a:rPr dirty="0"/>
              <a:t>Ashikujjaman</a:t>
            </a:r>
            <a:r>
              <a:rPr spc="35" dirty="0"/>
              <a:t> </a:t>
            </a:r>
            <a:r>
              <a:rPr dirty="0"/>
              <a:t>Nur</a:t>
            </a:r>
            <a:r>
              <a:rPr spc="35" dirty="0"/>
              <a:t> </a:t>
            </a:r>
            <a:r>
              <a:rPr dirty="0"/>
              <a:t>(IT-</a:t>
            </a:r>
            <a:r>
              <a:rPr spc="-10" dirty="0"/>
              <a:t>21013)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403559" y="3105948"/>
            <a:ext cx="645160" cy="137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November</a:t>
            </a:r>
            <a:r>
              <a:rPr spc="-25" dirty="0"/>
              <a:t> </a:t>
            </a:r>
            <a:r>
              <a:rPr dirty="0"/>
              <a:t>9,</a:t>
            </a:r>
            <a:r>
              <a:rPr spc="-20" dirty="0"/>
              <a:t> 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06279" y="3105948"/>
            <a:ext cx="198754" cy="137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50" dirty="0"/>
              <a:t>9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slide" Target="slide9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slide" Target="slide9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12" Type="http://schemas.openxmlformats.org/officeDocument/2006/relationships/slide" Target="slide9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29.png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slide" Target="slide9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6350" marR="5080" algn="ctr">
              <a:lnSpc>
                <a:spcPct val="106700"/>
              </a:lnSpc>
              <a:spcBef>
                <a:spcPts val="20"/>
              </a:spcBef>
            </a:pPr>
            <a:r>
              <a:rPr spc="-25" dirty="0"/>
              <a:t>Cellular</a:t>
            </a:r>
            <a:r>
              <a:rPr spc="-65" dirty="0"/>
              <a:t> </a:t>
            </a:r>
            <a:r>
              <a:rPr spc="-45" dirty="0"/>
              <a:t>Networks:</a:t>
            </a:r>
            <a:r>
              <a:rPr spc="65" dirty="0"/>
              <a:t> </a:t>
            </a:r>
            <a:r>
              <a:rPr dirty="0"/>
              <a:t>4G</a:t>
            </a:r>
            <a:r>
              <a:rPr spc="-65" dirty="0"/>
              <a:t> </a:t>
            </a:r>
            <a:r>
              <a:rPr spc="-10" dirty="0"/>
              <a:t>(Long</a:t>
            </a:r>
            <a:r>
              <a:rPr spc="-55" dirty="0"/>
              <a:t> </a:t>
            </a:r>
            <a:r>
              <a:rPr spc="-25" dirty="0"/>
              <a:t>Term</a:t>
            </a:r>
            <a:r>
              <a:rPr spc="-60" dirty="0"/>
              <a:t> </a:t>
            </a:r>
            <a:r>
              <a:rPr spc="-20" dirty="0"/>
              <a:t>Evolution)</a:t>
            </a:r>
            <a:r>
              <a:rPr spc="-65" dirty="0"/>
              <a:t> </a:t>
            </a:r>
            <a:r>
              <a:rPr spc="-30" dirty="0"/>
              <a:t>and</a:t>
            </a:r>
            <a:r>
              <a:rPr spc="-60" dirty="0"/>
              <a:t> </a:t>
            </a:r>
            <a:r>
              <a:rPr dirty="0"/>
              <a:t>5G</a:t>
            </a:r>
            <a:r>
              <a:rPr spc="-60" dirty="0"/>
              <a:t> </a:t>
            </a:r>
            <a:r>
              <a:rPr spc="-10" dirty="0"/>
              <a:t>(Fifth Generation)</a:t>
            </a:r>
          </a:p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sz="1100" spc="-40" dirty="0"/>
              <a:t>Course:</a:t>
            </a:r>
            <a:r>
              <a:rPr sz="1100" spc="35" dirty="0"/>
              <a:t> </a:t>
            </a:r>
            <a:r>
              <a:rPr sz="1100" spc="-35" dirty="0"/>
              <a:t>Wireless</a:t>
            </a:r>
            <a:r>
              <a:rPr sz="1100" spc="-55" dirty="0"/>
              <a:t> </a:t>
            </a:r>
            <a:r>
              <a:rPr sz="1100" spc="-40" dirty="0"/>
              <a:t>and</a:t>
            </a:r>
            <a:r>
              <a:rPr sz="1100" spc="-45" dirty="0"/>
              <a:t> </a:t>
            </a:r>
            <a:r>
              <a:rPr sz="1100" dirty="0"/>
              <a:t>Mobile</a:t>
            </a:r>
            <a:r>
              <a:rPr sz="1100" spc="-50" dirty="0"/>
              <a:t> </a:t>
            </a:r>
            <a:r>
              <a:rPr sz="1100" spc="-10" dirty="0"/>
              <a:t>Communication</a:t>
            </a:r>
            <a:endParaRPr sz="1100" dirty="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xfrm>
            <a:off x="1860574" y="1878815"/>
            <a:ext cx="2038985" cy="35009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/>
              <a:t>Md.</a:t>
            </a:r>
            <a:r>
              <a:rPr spc="114" dirty="0"/>
              <a:t> </a:t>
            </a:r>
            <a:r>
              <a:rPr spc="-35" dirty="0"/>
              <a:t>Ashikujjaman</a:t>
            </a:r>
            <a:r>
              <a:rPr spc="5" dirty="0"/>
              <a:t> </a:t>
            </a:r>
            <a:r>
              <a:rPr dirty="0"/>
              <a:t>Nur </a:t>
            </a:r>
            <a:r>
              <a:rPr spc="-40" dirty="0"/>
              <a:t>(IT-</a:t>
            </a:r>
            <a:r>
              <a:rPr spc="-10" dirty="0"/>
              <a:t>21013)</a:t>
            </a:r>
          </a:p>
          <a:p>
            <a:pPr>
              <a:lnSpc>
                <a:spcPct val="100000"/>
              </a:lnSpc>
            </a:pPr>
            <a:endParaRPr spc="-10" dirty="0"/>
          </a:p>
        </p:txBody>
      </p:sp>
      <p:grpSp>
        <p:nvGrpSpPr>
          <p:cNvPr id="4" name="object 4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Md.</a:t>
            </a:r>
            <a:r>
              <a:rPr spc="110" dirty="0"/>
              <a:t> </a:t>
            </a:r>
            <a:r>
              <a:rPr dirty="0"/>
              <a:t>Ashikujjaman</a:t>
            </a:r>
            <a:r>
              <a:rPr spc="35" dirty="0"/>
              <a:t> </a:t>
            </a:r>
            <a:r>
              <a:rPr dirty="0"/>
              <a:t>Nur</a:t>
            </a:r>
            <a:r>
              <a:rPr spc="35" dirty="0"/>
              <a:t> </a:t>
            </a:r>
            <a:r>
              <a:rPr dirty="0"/>
              <a:t>(IT-</a:t>
            </a:r>
            <a:r>
              <a:rPr spc="-10" dirty="0"/>
              <a:t>21013)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963445" y="3105948"/>
            <a:ext cx="183324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latin typeface="Tahoma"/>
                <a:cs typeface="Tahoma"/>
                <a:hlinkClick r:id="rId2" action="ppaction://hlinksldjump"/>
              </a:rPr>
              <a:t>4G</a:t>
            </a:r>
            <a:r>
              <a:rPr sz="600" spc="40" dirty="0"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2" action="ppaction://hlinksldjump"/>
              </a:rPr>
              <a:t>(Long</a:t>
            </a:r>
            <a:r>
              <a:rPr sz="600" spc="40" dirty="0"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2" action="ppaction://hlinksldjump"/>
              </a:rPr>
              <a:t>Term</a:t>
            </a:r>
            <a:r>
              <a:rPr sz="600" spc="45" dirty="0"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2" action="ppaction://hlinksldjump"/>
              </a:rPr>
              <a:t>Evolution)</a:t>
            </a:r>
            <a:r>
              <a:rPr sz="600" spc="40" dirty="0"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2" action="ppaction://hlinksldjump"/>
              </a:rPr>
              <a:t>and</a:t>
            </a:r>
            <a:r>
              <a:rPr sz="600" spc="45" dirty="0"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2" action="ppaction://hlinksldjump"/>
              </a:rPr>
              <a:t>5G</a:t>
            </a:r>
            <a:r>
              <a:rPr sz="600" spc="40" dirty="0"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2" action="ppaction://hlinksldjump"/>
              </a:rPr>
              <a:t>(Fifth</a:t>
            </a:r>
            <a:r>
              <a:rPr sz="600" spc="45" dirty="0"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10" dirty="0">
                <a:latin typeface="Tahoma"/>
                <a:cs typeface="Tahoma"/>
                <a:hlinkClick r:id="rId2" action="ppaction://hlinksldjump"/>
              </a:rPr>
              <a:t>Generation)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November</a:t>
            </a:r>
            <a:r>
              <a:rPr spc="-25" dirty="0"/>
              <a:t> </a:t>
            </a:r>
            <a:r>
              <a:rPr dirty="0"/>
              <a:t>9,</a:t>
            </a:r>
            <a:r>
              <a:rPr spc="-20" dirty="0"/>
              <a:t> 2025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1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50" dirty="0"/>
              <a:t>9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What</a:t>
            </a:r>
            <a:r>
              <a:rPr spc="-35" dirty="0"/>
              <a:t> </a:t>
            </a:r>
            <a:r>
              <a:rPr spc="-60" dirty="0"/>
              <a:t>are</a:t>
            </a:r>
            <a:r>
              <a:rPr spc="-25" dirty="0"/>
              <a:t> Cellular</a:t>
            </a:r>
            <a:r>
              <a:rPr spc="-30" dirty="0"/>
              <a:t> </a:t>
            </a:r>
            <a:r>
              <a:rPr spc="-40" dirty="0"/>
              <a:t>Networks?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15720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932267"/>
            <a:ext cx="2903855" cy="14725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2069">
              <a:lnSpc>
                <a:spcPct val="102699"/>
              </a:lnSpc>
              <a:spcBef>
                <a:spcPts val="55"/>
              </a:spcBef>
            </a:pPr>
            <a:r>
              <a:rPr sz="1100" spc="-55" dirty="0">
                <a:latin typeface="Tahoma"/>
                <a:cs typeface="Tahoma"/>
              </a:rPr>
              <a:t>Radio-</a:t>
            </a:r>
            <a:r>
              <a:rPr sz="1100" spc="-45" dirty="0">
                <a:latin typeface="Tahoma"/>
                <a:cs typeface="Tahoma"/>
              </a:rPr>
              <a:t>based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wide-</a:t>
            </a:r>
            <a:r>
              <a:rPr sz="1100" spc="-55" dirty="0">
                <a:latin typeface="Tahoma"/>
                <a:cs typeface="Tahoma"/>
              </a:rPr>
              <a:t>area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networks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connect </a:t>
            </a:r>
            <a:r>
              <a:rPr sz="1100" spc="-30" dirty="0">
                <a:latin typeface="Tahoma"/>
                <a:cs typeface="Tahoma"/>
              </a:rPr>
              <a:t>mobile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devices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internet</a:t>
            </a:r>
            <a:r>
              <a:rPr sz="1100" spc="-40" dirty="0">
                <a:latin typeface="Tahoma"/>
                <a:cs typeface="Tahoma"/>
              </a:rPr>
              <a:t> and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voice </a:t>
            </a:r>
            <a:r>
              <a:rPr sz="1100" spc="-50" dirty="0">
                <a:latin typeface="Tahoma"/>
                <a:cs typeface="Tahoma"/>
              </a:rPr>
              <a:t>services.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z="1100" spc="-45" dirty="0">
                <a:latin typeface="Tahoma"/>
                <a:cs typeface="Tahoma"/>
              </a:rPr>
              <a:t>Generations:</a:t>
            </a:r>
            <a:r>
              <a:rPr sz="1100" spc="110" dirty="0">
                <a:latin typeface="Tahoma"/>
                <a:cs typeface="Tahoma"/>
              </a:rPr>
              <a:t> </a:t>
            </a:r>
            <a:r>
              <a:rPr sz="1100" spc="-105" dirty="0">
                <a:latin typeface="Arial Black"/>
                <a:cs typeface="Arial Black"/>
              </a:rPr>
              <a:t>First</a:t>
            </a:r>
            <a:r>
              <a:rPr sz="1100" spc="20" dirty="0">
                <a:latin typeface="Arial Black"/>
                <a:cs typeface="Arial Black"/>
              </a:rPr>
              <a:t> </a:t>
            </a:r>
            <a:r>
              <a:rPr sz="1100" spc="-135" dirty="0">
                <a:latin typeface="Arial Black"/>
                <a:cs typeface="Arial Black"/>
              </a:rPr>
              <a:t>Generation</a:t>
            </a:r>
            <a:r>
              <a:rPr sz="1100" spc="30" dirty="0">
                <a:latin typeface="Arial Black"/>
                <a:cs typeface="Arial Black"/>
              </a:rPr>
              <a:t> </a:t>
            </a:r>
            <a:r>
              <a:rPr sz="1100" spc="-35" dirty="0">
                <a:latin typeface="Arial Black"/>
                <a:cs typeface="Arial Black"/>
              </a:rPr>
              <a:t>(1G)</a:t>
            </a:r>
            <a:r>
              <a:rPr sz="1100" spc="-15" dirty="0">
                <a:latin typeface="Arial Black"/>
                <a:cs typeface="Arial Black"/>
              </a:rPr>
              <a:t> </a:t>
            </a:r>
            <a:r>
              <a:rPr sz="1100" i="1" dirty="0">
                <a:latin typeface="Arial"/>
                <a:cs typeface="Arial"/>
              </a:rPr>
              <a:t>→</a:t>
            </a:r>
            <a:r>
              <a:rPr sz="1100" i="1" spc="45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Second </a:t>
            </a:r>
            <a:r>
              <a:rPr sz="1100" spc="-45" dirty="0">
                <a:latin typeface="Tahoma"/>
                <a:cs typeface="Tahoma"/>
              </a:rPr>
              <a:t>Generation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(2G)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→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Third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Generation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(3G)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→ </a:t>
            </a:r>
            <a:r>
              <a:rPr sz="1100" spc="-110" dirty="0">
                <a:latin typeface="Arial Black"/>
                <a:cs typeface="Arial Black"/>
              </a:rPr>
              <a:t>Fourth</a:t>
            </a:r>
            <a:r>
              <a:rPr sz="1100" spc="35" dirty="0">
                <a:latin typeface="Arial Black"/>
                <a:cs typeface="Arial Black"/>
              </a:rPr>
              <a:t> </a:t>
            </a:r>
            <a:r>
              <a:rPr sz="1100" spc="-135" dirty="0">
                <a:latin typeface="Arial Black"/>
                <a:cs typeface="Arial Black"/>
              </a:rPr>
              <a:t>Generation</a:t>
            </a:r>
            <a:r>
              <a:rPr sz="1100" spc="40" dirty="0">
                <a:latin typeface="Arial Black"/>
                <a:cs typeface="Arial Black"/>
              </a:rPr>
              <a:t> </a:t>
            </a:r>
            <a:r>
              <a:rPr sz="1100" spc="-50" dirty="0">
                <a:latin typeface="Arial Black"/>
                <a:cs typeface="Arial Black"/>
              </a:rPr>
              <a:t>(4G,</a:t>
            </a:r>
            <a:r>
              <a:rPr sz="1100" spc="40" dirty="0">
                <a:latin typeface="Arial Black"/>
                <a:cs typeface="Arial Black"/>
              </a:rPr>
              <a:t> </a:t>
            </a:r>
            <a:r>
              <a:rPr sz="1100" spc="-135" dirty="0">
                <a:latin typeface="Arial Black"/>
                <a:cs typeface="Arial Black"/>
              </a:rPr>
              <a:t>Long</a:t>
            </a:r>
            <a:r>
              <a:rPr sz="1100" spc="40" dirty="0">
                <a:latin typeface="Arial Black"/>
                <a:cs typeface="Arial Black"/>
              </a:rPr>
              <a:t> </a:t>
            </a:r>
            <a:r>
              <a:rPr sz="1100" spc="-135" dirty="0">
                <a:latin typeface="Arial Black"/>
                <a:cs typeface="Arial Black"/>
              </a:rPr>
              <a:t>Term</a:t>
            </a:r>
            <a:r>
              <a:rPr sz="1100" spc="35" dirty="0">
                <a:latin typeface="Arial Black"/>
                <a:cs typeface="Arial Black"/>
              </a:rPr>
              <a:t> </a:t>
            </a:r>
            <a:r>
              <a:rPr sz="1100" spc="-100" dirty="0">
                <a:latin typeface="Arial Black"/>
                <a:cs typeface="Arial Black"/>
              </a:rPr>
              <a:t>Evolution</a:t>
            </a:r>
            <a:endParaRPr sz="11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Arial Black"/>
                <a:cs typeface="Arial Black"/>
              </a:rPr>
              <a:t>-</a:t>
            </a:r>
            <a:r>
              <a:rPr sz="1100" spc="35" dirty="0">
                <a:latin typeface="Arial Black"/>
                <a:cs typeface="Arial Black"/>
              </a:rPr>
              <a:t> </a:t>
            </a:r>
            <a:r>
              <a:rPr sz="1100" spc="-70" dirty="0">
                <a:latin typeface="Arial Black"/>
                <a:cs typeface="Arial Black"/>
              </a:rPr>
              <a:t>LTE)</a:t>
            </a:r>
            <a:r>
              <a:rPr sz="1100" spc="5" dirty="0">
                <a:latin typeface="Arial Black"/>
                <a:cs typeface="Arial Black"/>
              </a:rPr>
              <a:t> </a:t>
            </a:r>
            <a:r>
              <a:rPr sz="1100" i="1" dirty="0">
                <a:latin typeface="Arial"/>
                <a:cs typeface="Arial"/>
              </a:rPr>
              <a:t>→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spc="-70" dirty="0">
                <a:latin typeface="Arial Black"/>
                <a:cs typeface="Arial Black"/>
              </a:rPr>
              <a:t>Fifth</a:t>
            </a:r>
            <a:r>
              <a:rPr sz="1100" spc="40" dirty="0">
                <a:latin typeface="Arial Black"/>
                <a:cs typeface="Arial Black"/>
              </a:rPr>
              <a:t> </a:t>
            </a:r>
            <a:r>
              <a:rPr sz="1100" spc="-135" dirty="0">
                <a:latin typeface="Arial Black"/>
                <a:cs typeface="Arial Black"/>
              </a:rPr>
              <a:t>Generation</a:t>
            </a:r>
            <a:r>
              <a:rPr sz="1100" spc="40" dirty="0">
                <a:latin typeface="Arial Black"/>
                <a:cs typeface="Arial Black"/>
              </a:rPr>
              <a:t> </a:t>
            </a:r>
            <a:r>
              <a:rPr sz="1100" spc="-10" dirty="0">
                <a:latin typeface="Arial Black"/>
                <a:cs typeface="Arial Black"/>
              </a:rPr>
              <a:t>(5G)</a:t>
            </a:r>
            <a:r>
              <a:rPr sz="1100" spc="-1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12700" marR="10922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Why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matters: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broadband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mobility,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Internet</a:t>
            </a:r>
            <a:r>
              <a:rPr sz="1100" spc="-25" dirty="0">
                <a:latin typeface="Tahoma"/>
                <a:cs typeface="Tahoma"/>
              </a:rPr>
              <a:t> of </a:t>
            </a:r>
            <a:r>
              <a:rPr sz="1100" spc="-10" dirty="0">
                <a:latin typeface="Tahoma"/>
                <a:cs typeface="Tahoma"/>
              </a:rPr>
              <a:t>Things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(IoT),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automation.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97825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124087"/>
            <a:ext cx="65265" cy="65265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3462058" y="1027480"/>
            <a:ext cx="2016125" cy="76200"/>
          </a:xfrm>
          <a:custGeom>
            <a:avLst/>
            <a:gdLst/>
            <a:ahLst/>
            <a:cxnLst/>
            <a:rect l="l" t="t" r="r" b="b"/>
            <a:pathLst>
              <a:path w="2016125" h="76200">
                <a:moveTo>
                  <a:pt x="0" y="0"/>
                </a:moveTo>
                <a:lnTo>
                  <a:pt x="2016016" y="0"/>
                </a:lnTo>
              </a:path>
              <a:path w="2016125" h="76200">
                <a:moveTo>
                  <a:pt x="0" y="0"/>
                </a:moveTo>
                <a:lnTo>
                  <a:pt x="0" y="75601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405441" y="1102816"/>
            <a:ext cx="113664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0" spc="-25" dirty="0">
                <a:latin typeface="Tahoma"/>
                <a:cs typeface="Tahoma"/>
              </a:rPr>
              <a:t>1G</a:t>
            </a:r>
            <a:endParaRPr sz="5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59645" y="1163115"/>
            <a:ext cx="205104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0" spc="-10" dirty="0">
                <a:latin typeface="Tahoma"/>
                <a:cs typeface="Tahoma"/>
              </a:rPr>
              <a:t>1980s</a:t>
            </a:r>
            <a:endParaRPr sz="55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966062" y="1027480"/>
            <a:ext cx="0" cy="76200"/>
          </a:xfrm>
          <a:custGeom>
            <a:avLst/>
            <a:gdLst/>
            <a:ahLst/>
            <a:cxnLst/>
            <a:rect l="l" t="t" r="r" b="b"/>
            <a:pathLst>
              <a:path h="76200">
                <a:moveTo>
                  <a:pt x="0" y="0"/>
                </a:moveTo>
                <a:lnTo>
                  <a:pt x="0" y="75601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909440" y="1102816"/>
            <a:ext cx="113664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0" spc="-25" dirty="0">
                <a:latin typeface="Tahoma"/>
                <a:cs typeface="Tahoma"/>
              </a:rPr>
              <a:t>2G</a:t>
            </a:r>
            <a:endParaRPr sz="5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63644" y="1163115"/>
            <a:ext cx="205104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0" spc="-10" dirty="0">
                <a:latin typeface="Tahoma"/>
                <a:cs typeface="Tahoma"/>
              </a:rPr>
              <a:t>1990s</a:t>
            </a:r>
            <a:endParaRPr sz="55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470066" y="1027480"/>
            <a:ext cx="0" cy="76200"/>
          </a:xfrm>
          <a:custGeom>
            <a:avLst/>
            <a:gdLst/>
            <a:ahLst/>
            <a:cxnLst/>
            <a:rect l="l" t="t" r="r" b="b"/>
            <a:pathLst>
              <a:path h="76200">
                <a:moveTo>
                  <a:pt x="0" y="0"/>
                </a:moveTo>
                <a:lnTo>
                  <a:pt x="0" y="75601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413427" y="1102816"/>
            <a:ext cx="113664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0" spc="-25" dirty="0">
                <a:latin typeface="Tahoma"/>
                <a:cs typeface="Tahoma"/>
              </a:rPr>
              <a:t>3G</a:t>
            </a:r>
            <a:endParaRPr sz="55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67631" y="1163115"/>
            <a:ext cx="205104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0" spc="-10" dirty="0">
                <a:latin typeface="Tahoma"/>
                <a:cs typeface="Tahoma"/>
              </a:rPr>
              <a:t>2000s</a:t>
            </a:r>
            <a:endParaRPr sz="55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974070" y="1027480"/>
            <a:ext cx="0" cy="76200"/>
          </a:xfrm>
          <a:custGeom>
            <a:avLst/>
            <a:gdLst/>
            <a:ahLst/>
            <a:cxnLst/>
            <a:rect l="l" t="t" r="r" b="b"/>
            <a:pathLst>
              <a:path h="76200">
                <a:moveTo>
                  <a:pt x="0" y="0"/>
                </a:moveTo>
                <a:lnTo>
                  <a:pt x="0" y="75601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917427" y="1102816"/>
            <a:ext cx="113664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0" spc="-25" dirty="0">
                <a:latin typeface="Tahoma"/>
                <a:cs typeface="Tahoma"/>
              </a:rPr>
              <a:t>4G</a:t>
            </a:r>
            <a:endParaRPr sz="55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71630" y="1163115"/>
            <a:ext cx="205104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0" spc="-10" dirty="0">
                <a:latin typeface="Tahoma"/>
                <a:cs typeface="Tahoma"/>
              </a:rPr>
              <a:t>2010s</a:t>
            </a:r>
            <a:endParaRPr sz="55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478074" y="1027480"/>
            <a:ext cx="0" cy="76200"/>
          </a:xfrm>
          <a:custGeom>
            <a:avLst/>
            <a:gdLst/>
            <a:ahLst/>
            <a:cxnLst/>
            <a:rect l="l" t="t" r="r" b="b"/>
            <a:pathLst>
              <a:path h="76200">
                <a:moveTo>
                  <a:pt x="0" y="0"/>
                </a:moveTo>
                <a:lnTo>
                  <a:pt x="0" y="75601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421426" y="1102816"/>
            <a:ext cx="113664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0" spc="-25" dirty="0">
                <a:latin typeface="Tahoma"/>
                <a:cs typeface="Tahoma"/>
              </a:rPr>
              <a:t>5G</a:t>
            </a:r>
            <a:endParaRPr sz="55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75630" y="1163115"/>
            <a:ext cx="205104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0" spc="-10" dirty="0">
                <a:latin typeface="Tahoma"/>
                <a:cs typeface="Tahoma"/>
              </a:rPr>
              <a:t>2020s</a:t>
            </a:r>
            <a:endParaRPr sz="55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933741" y="949352"/>
            <a:ext cx="584835" cy="81280"/>
            <a:chOff x="4933741" y="949352"/>
            <a:chExt cx="584835" cy="81280"/>
          </a:xfrm>
        </p:grpSpPr>
        <p:sp>
          <p:nvSpPr>
            <p:cNvPr id="23" name="object 23"/>
            <p:cNvSpPr/>
            <p:nvPr/>
          </p:nvSpPr>
          <p:spPr>
            <a:xfrm>
              <a:off x="4936271" y="95188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798" y="0"/>
                  </a:moveTo>
                  <a:lnTo>
                    <a:pt x="23085" y="2970"/>
                  </a:lnTo>
                  <a:lnTo>
                    <a:pt x="11070" y="11070"/>
                  </a:lnTo>
                  <a:lnTo>
                    <a:pt x="2970" y="23085"/>
                  </a:lnTo>
                  <a:lnTo>
                    <a:pt x="0" y="37798"/>
                  </a:lnTo>
                  <a:lnTo>
                    <a:pt x="2970" y="52511"/>
                  </a:lnTo>
                  <a:lnTo>
                    <a:pt x="11070" y="64526"/>
                  </a:lnTo>
                  <a:lnTo>
                    <a:pt x="23085" y="72627"/>
                  </a:lnTo>
                  <a:lnTo>
                    <a:pt x="37798" y="75597"/>
                  </a:lnTo>
                  <a:lnTo>
                    <a:pt x="52511" y="72627"/>
                  </a:lnTo>
                  <a:lnTo>
                    <a:pt x="64526" y="64526"/>
                  </a:lnTo>
                  <a:lnTo>
                    <a:pt x="72626" y="52511"/>
                  </a:lnTo>
                  <a:lnTo>
                    <a:pt x="75597" y="37798"/>
                  </a:lnTo>
                  <a:lnTo>
                    <a:pt x="72626" y="23085"/>
                  </a:lnTo>
                  <a:lnTo>
                    <a:pt x="64526" y="11070"/>
                  </a:lnTo>
                  <a:lnTo>
                    <a:pt x="52511" y="2970"/>
                  </a:lnTo>
                  <a:lnTo>
                    <a:pt x="37798" y="0"/>
                  </a:lnTo>
                  <a:close/>
                </a:path>
              </a:pathLst>
            </a:custGeom>
            <a:solidFill>
              <a:srgbClr val="B2B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936271" y="95188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597" y="37798"/>
                  </a:moveTo>
                  <a:lnTo>
                    <a:pt x="72626" y="23085"/>
                  </a:lnTo>
                  <a:lnTo>
                    <a:pt x="64526" y="11070"/>
                  </a:lnTo>
                  <a:lnTo>
                    <a:pt x="52511" y="2970"/>
                  </a:lnTo>
                  <a:lnTo>
                    <a:pt x="37798" y="0"/>
                  </a:lnTo>
                  <a:lnTo>
                    <a:pt x="23085" y="2970"/>
                  </a:lnTo>
                  <a:lnTo>
                    <a:pt x="11070" y="11070"/>
                  </a:lnTo>
                  <a:lnTo>
                    <a:pt x="2970" y="23085"/>
                  </a:lnTo>
                  <a:lnTo>
                    <a:pt x="0" y="37798"/>
                  </a:lnTo>
                  <a:lnTo>
                    <a:pt x="2970" y="52511"/>
                  </a:lnTo>
                  <a:lnTo>
                    <a:pt x="11070" y="64526"/>
                  </a:lnTo>
                  <a:lnTo>
                    <a:pt x="23085" y="72627"/>
                  </a:lnTo>
                  <a:lnTo>
                    <a:pt x="37798" y="75597"/>
                  </a:lnTo>
                  <a:lnTo>
                    <a:pt x="52511" y="72627"/>
                  </a:lnTo>
                  <a:lnTo>
                    <a:pt x="64526" y="64526"/>
                  </a:lnTo>
                  <a:lnTo>
                    <a:pt x="72626" y="52511"/>
                  </a:lnTo>
                  <a:lnTo>
                    <a:pt x="75597" y="37798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440275" y="95188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798" y="0"/>
                  </a:moveTo>
                  <a:lnTo>
                    <a:pt x="23085" y="2970"/>
                  </a:lnTo>
                  <a:lnTo>
                    <a:pt x="11070" y="11070"/>
                  </a:lnTo>
                  <a:lnTo>
                    <a:pt x="2970" y="23085"/>
                  </a:lnTo>
                  <a:lnTo>
                    <a:pt x="0" y="37798"/>
                  </a:lnTo>
                  <a:lnTo>
                    <a:pt x="2970" y="52511"/>
                  </a:lnTo>
                  <a:lnTo>
                    <a:pt x="11070" y="64526"/>
                  </a:lnTo>
                  <a:lnTo>
                    <a:pt x="23085" y="72627"/>
                  </a:lnTo>
                  <a:lnTo>
                    <a:pt x="37798" y="75597"/>
                  </a:lnTo>
                  <a:lnTo>
                    <a:pt x="52511" y="72627"/>
                  </a:lnTo>
                  <a:lnTo>
                    <a:pt x="64526" y="64526"/>
                  </a:lnTo>
                  <a:lnTo>
                    <a:pt x="72626" y="52511"/>
                  </a:lnTo>
                  <a:lnTo>
                    <a:pt x="75597" y="37798"/>
                  </a:lnTo>
                  <a:lnTo>
                    <a:pt x="72626" y="23085"/>
                  </a:lnTo>
                  <a:lnTo>
                    <a:pt x="64526" y="11070"/>
                  </a:lnTo>
                  <a:lnTo>
                    <a:pt x="52511" y="2970"/>
                  </a:lnTo>
                  <a:lnTo>
                    <a:pt x="37798" y="0"/>
                  </a:lnTo>
                  <a:close/>
                </a:path>
              </a:pathLst>
            </a:custGeom>
            <a:solidFill>
              <a:srgbClr val="B2D1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440275" y="95188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597" y="37798"/>
                  </a:moveTo>
                  <a:lnTo>
                    <a:pt x="72626" y="23085"/>
                  </a:lnTo>
                  <a:lnTo>
                    <a:pt x="64526" y="11070"/>
                  </a:lnTo>
                  <a:lnTo>
                    <a:pt x="52511" y="2970"/>
                  </a:lnTo>
                  <a:lnTo>
                    <a:pt x="37798" y="0"/>
                  </a:lnTo>
                  <a:lnTo>
                    <a:pt x="23085" y="2970"/>
                  </a:lnTo>
                  <a:lnTo>
                    <a:pt x="11070" y="11070"/>
                  </a:lnTo>
                  <a:lnTo>
                    <a:pt x="2970" y="23085"/>
                  </a:lnTo>
                  <a:lnTo>
                    <a:pt x="0" y="37798"/>
                  </a:lnTo>
                  <a:lnTo>
                    <a:pt x="2970" y="52511"/>
                  </a:lnTo>
                  <a:lnTo>
                    <a:pt x="11070" y="64526"/>
                  </a:lnTo>
                  <a:lnTo>
                    <a:pt x="23085" y="72627"/>
                  </a:lnTo>
                  <a:lnTo>
                    <a:pt x="37798" y="75597"/>
                  </a:lnTo>
                  <a:lnTo>
                    <a:pt x="52511" y="72627"/>
                  </a:lnTo>
                  <a:lnTo>
                    <a:pt x="64526" y="64526"/>
                  </a:lnTo>
                  <a:lnTo>
                    <a:pt x="72626" y="52511"/>
                  </a:lnTo>
                  <a:lnTo>
                    <a:pt x="75597" y="37798"/>
                  </a:lnTo>
                  <a:close/>
                </a:path>
              </a:pathLst>
            </a:custGeom>
            <a:ln w="5060">
              <a:solidFill>
                <a:srgbClr val="00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28" name="object 28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Md.</a:t>
            </a:r>
            <a:r>
              <a:rPr spc="110" dirty="0"/>
              <a:t> </a:t>
            </a:r>
            <a:r>
              <a:rPr dirty="0"/>
              <a:t>Ashikujjaman</a:t>
            </a:r>
            <a:r>
              <a:rPr spc="35" dirty="0"/>
              <a:t> </a:t>
            </a:r>
            <a:r>
              <a:rPr dirty="0"/>
              <a:t>Nur</a:t>
            </a:r>
            <a:r>
              <a:rPr spc="35" dirty="0"/>
              <a:t> </a:t>
            </a:r>
            <a:r>
              <a:rPr dirty="0"/>
              <a:t>(IT-</a:t>
            </a:r>
            <a:r>
              <a:rPr spc="-10" dirty="0"/>
              <a:t>21013)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1963445" y="3105948"/>
            <a:ext cx="183324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latin typeface="Tahoma"/>
                <a:cs typeface="Tahoma"/>
                <a:hlinkClick r:id="rId5" action="ppaction://hlinksldjump"/>
              </a:rPr>
              <a:t>4G</a:t>
            </a:r>
            <a:r>
              <a:rPr sz="600" spc="40" dirty="0">
                <a:latin typeface="Tahoma"/>
                <a:cs typeface="Tahoma"/>
                <a:hlinkClick r:id="rId5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5" action="ppaction://hlinksldjump"/>
              </a:rPr>
              <a:t>(Long</a:t>
            </a:r>
            <a:r>
              <a:rPr sz="600" spc="40" dirty="0">
                <a:latin typeface="Tahoma"/>
                <a:cs typeface="Tahoma"/>
                <a:hlinkClick r:id="rId5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5" action="ppaction://hlinksldjump"/>
              </a:rPr>
              <a:t>Term</a:t>
            </a:r>
            <a:r>
              <a:rPr sz="600" spc="45" dirty="0">
                <a:latin typeface="Tahoma"/>
                <a:cs typeface="Tahoma"/>
                <a:hlinkClick r:id="rId5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5" action="ppaction://hlinksldjump"/>
              </a:rPr>
              <a:t>Evolution)</a:t>
            </a:r>
            <a:r>
              <a:rPr sz="600" spc="40" dirty="0">
                <a:latin typeface="Tahoma"/>
                <a:cs typeface="Tahoma"/>
                <a:hlinkClick r:id="rId5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5" action="ppaction://hlinksldjump"/>
              </a:rPr>
              <a:t>and</a:t>
            </a:r>
            <a:r>
              <a:rPr sz="600" spc="45" dirty="0">
                <a:latin typeface="Tahoma"/>
                <a:cs typeface="Tahoma"/>
                <a:hlinkClick r:id="rId5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5" action="ppaction://hlinksldjump"/>
              </a:rPr>
              <a:t>5G</a:t>
            </a:r>
            <a:r>
              <a:rPr sz="600" spc="40" dirty="0">
                <a:latin typeface="Tahoma"/>
                <a:cs typeface="Tahoma"/>
                <a:hlinkClick r:id="rId5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5" action="ppaction://hlinksldjump"/>
              </a:rPr>
              <a:t>(Fifth</a:t>
            </a:r>
            <a:r>
              <a:rPr sz="600" spc="45" dirty="0">
                <a:latin typeface="Tahoma"/>
                <a:cs typeface="Tahoma"/>
                <a:hlinkClick r:id="rId5" action="ppaction://hlinksldjump"/>
              </a:rPr>
              <a:t> </a:t>
            </a:r>
            <a:r>
              <a:rPr sz="600" spc="-10" dirty="0">
                <a:latin typeface="Tahoma"/>
                <a:cs typeface="Tahoma"/>
                <a:hlinkClick r:id="rId5" action="ppaction://hlinksldjump"/>
              </a:rPr>
              <a:t>Generation)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November</a:t>
            </a:r>
            <a:r>
              <a:rPr spc="-25" dirty="0"/>
              <a:t> </a:t>
            </a:r>
            <a:r>
              <a:rPr dirty="0"/>
              <a:t>9,</a:t>
            </a:r>
            <a:r>
              <a:rPr spc="-20" dirty="0"/>
              <a:t> 2025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2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50" dirty="0"/>
              <a:t>9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4G</a:t>
            </a:r>
            <a:r>
              <a:rPr spc="-20" dirty="0"/>
              <a:t> </a:t>
            </a:r>
            <a:r>
              <a:rPr spc="-10" dirty="0"/>
              <a:t>(Long</a:t>
            </a:r>
            <a:r>
              <a:rPr spc="-15" dirty="0"/>
              <a:t> </a:t>
            </a:r>
            <a:r>
              <a:rPr spc="-25" dirty="0"/>
              <a:t>Term</a:t>
            </a:r>
            <a:r>
              <a:rPr spc="-15" dirty="0"/>
              <a:t> </a:t>
            </a:r>
            <a:r>
              <a:rPr spc="-20" dirty="0"/>
              <a:t>Evolution</a:t>
            </a:r>
            <a:r>
              <a:rPr spc="-15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dirty="0"/>
              <a:t>LTE)</a:t>
            </a:r>
            <a:r>
              <a:rPr spc="-20" dirty="0"/>
              <a:t> </a:t>
            </a:r>
            <a:r>
              <a:rPr dirty="0"/>
              <a:t>at</a:t>
            </a:r>
            <a:r>
              <a:rPr spc="-15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spc="-10" dirty="0"/>
              <a:t>Glance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567448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949566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675815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885848"/>
            <a:ext cx="65265" cy="652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02932" y="484008"/>
            <a:ext cx="2764790" cy="18542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85" dirty="0">
                <a:latin typeface="Arial Black"/>
                <a:cs typeface="Arial Black"/>
              </a:rPr>
              <a:t>All-</a:t>
            </a:r>
            <a:r>
              <a:rPr sz="1100" spc="-100" dirty="0">
                <a:latin typeface="Arial Black"/>
                <a:cs typeface="Arial Black"/>
              </a:rPr>
              <a:t>Internet</a:t>
            </a:r>
            <a:r>
              <a:rPr sz="1100" spc="5" dirty="0">
                <a:latin typeface="Arial Black"/>
                <a:cs typeface="Arial Black"/>
              </a:rPr>
              <a:t> </a:t>
            </a:r>
            <a:r>
              <a:rPr sz="1100" spc="-114" dirty="0">
                <a:latin typeface="Arial Black"/>
                <a:cs typeface="Arial Black"/>
              </a:rPr>
              <a:t>Protocol</a:t>
            </a:r>
            <a:r>
              <a:rPr sz="1100" spc="20" dirty="0">
                <a:latin typeface="Arial Black"/>
                <a:cs typeface="Arial Black"/>
              </a:rPr>
              <a:t> </a:t>
            </a:r>
            <a:r>
              <a:rPr sz="1100" spc="-35" dirty="0">
                <a:latin typeface="Arial Black"/>
                <a:cs typeface="Arial Black"/>
              </a:rPr>
              <a:t>(All-</a:t>
            </a:r>
            <a:r>
              <a:rPr sz="1100" spc="-10" dirty="0">
                <a:latin typeface="Arial Black"/>
                <a:cs typeface="Arial Black"/>
              </a:rPr>
              <a:t>IP)</a:t>
            </a:r>
            <a:r>
              <a:rPr sz="1100" spc="-40" dirty="0">
                <a:latin typeface="Arial Black"/>
                <a:cs typeface="Arial Black"/>
              </a:rPr>
              <a:t> </a:t>
            </a:r>
            <a:r>
              <a:rPr sz="1100" spc="-45" dirty="0">
                <a:latin typeface="Tahoma"/>
                <a:cs typeface="Tahoma"/>
              </a:rPr>
              <a:t>network:</a:t>
            </a:r>
            <a:r>
              <a:rPr sz="1100" spc="11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voice </a:t>
            </a:r>
            <a:r>
              <a:rPr sz="1100" spc="-40" dirty="0">
                <a:latin typeface="Tahoma"/>
                <a:cs typeface="Tahoma"/>
              </a:rPr>
              <a:t>and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over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packet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core.</a:t>
            </a:r>
            <a:endParaRPr sz="1100" dirty="0">
              <a:latin typeface="Tahoma"/>
              <a:cs typeface="Tahoma"/>
            </a:endParaRPr>
          </a:p>
          <a:p>
            <a:pPr marL="12700" marR="395605">
              <a:lnSpc>
                <a:spcPct val="102600"/>
              </a:lnSpc>
              <a:spcBef>
                <a:spcPts val="300"/>
              </a:spcBef>
            </a:pPr>
            <a:r>
              <a:rPr sz="1100" spc="-114" dirty="0">
                <a:latin typeface="Arial Black"/>
                <a:cs typeface="Arial Black"/>
              </a:rPr>
              <a:t>Speed:</a:t>
            </a:r>
            <a:r>
              <a:rPr sz="1100" spc="55" dirty="0">
                <a:latin typeface="Arial Black"/>
                <a:cs typeface="Arial Black"/>
              </a:rPr>
              <a:t> </a:t>
            </a:r>
            <a:r>
              <a:rPr sz="1100" spc="-45" dirty="0">
                <a:latin typeface="Tahoma"/>
                <a:cs typeface="Tahoma"/>
              </a:rPr>
              <a:t>approximately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100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Megabits </a:t>
            </a:r>
            <a:r>
              <a:rPr sz="1100" spc="-25" dirty="0">
                <a:latin typeface="Tahoma"/>
                <a:cs typeface="Tahoma"/>
              </a:rPr>
              <a:t>per </a:t>
            </a:r>
            <a:r>
              <a:rPr sz="1100" spc="-60" dirty="0">
                <a:latin typeface="Tahoma"/>
                <a:cs typeface="Tahoma"/>
              </a:rPr>
              <a:t>second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(Mbps)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mobile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users,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up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</a:t>
            </a:r>
            <a:endParaRPr sz="1100" dirty="0">
              <a:latin typeface="Tahoma"/>
              <a:cs typeface="Tahoma"/>
            </a:endParaRPr>
          </a:p>
          <a:p>
            <a:pPr marL="12700" marR="289560">
              <a:lnSpc>
                <a:spcPct val="102600"/>
              </a:lnSpc>
            </a:pPr>
            <a:r>
              <a:rPr sz="1100" dirty="0">
                <a:latin typeface="Tahoma"/>
                <a:cs typeface="Tahoma"/>
              </a:rPr>
              <a:t>1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Gigabit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second</a:t>
            </a:r>
            <a:r>
              <a:rPr sz="1100" spc="-30" dirty="0">
                <a:latin typeface="Tahoma"/>
                <a:cs typeface="Tahoma"/>
              </a:rPr>
              <a:t> (Gbps)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stationary </a:t>
            </a:r>
            <a:r>
              <a:rPr sz="1100" spc="-10" dirty="0">
                <a:latin typeface="Tahoma"/>
                <a:cs typeface="Tahoma"/>
              </a:rPr>
              <a:t>users.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125" dirty="0">
                <a:latin typeface="Arial Black"/>
                <a:cs typeface="Arial Black"/>
              </a:rPr>
              <a:t>Latency:</a:t>
            </a:r>
            <a:r>
              <a:rPr sz="1100" spc="65" dirty="0">
                <a:latin typeface="Arial Black"/>
                <a:cs typeface="Arial Black"/>
              </a:rPr>
              <a:t> </a:t>
            </a:r>
            <a:r>
              <a:rPr sz="1100" spc="-55" dirty="0">
                <a:latin typeface="Tahoma"/>
                <a:cs typeface="Tahoma"/>
              </a:rPr>
              <a:t>around</a:t>
            </a:r>
            <a:r>
              <a:rPr sz="1100" spc="-20" dirty="0">
                <a:latin typeface="Tahoma"/>
                <a:cs typeface="Tahoma"/>
              </a:rPr>
              <a:t> 50 </a:t>
            </a:r>
            <a:r>
              <a:rPr sz="1100" spc="-35" dirty="0">
                <a:latin typeface="Tahoma"/>
                <a:cs typeface="Tahoma"/>
              </a:rPr>
              <a:t>milliseconds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spc="-10" dirty="0" err="1">
                <a:latin typeface="Tahoma"/>
                <a:cs typeface="Tahoma"/>
              </a:rPr>
              <a:t>ms</a:t>
            </a:r>
            <a:r>
              <a:rPr sz="1100" spc="-10" dirty="0">
                <a:latin typeface="Tahoma"/>
                <a:cs typeface="Tahoma"/>
              </a:rPr>
              <a:t>).</a:t>
            </a:r>
            <a:endParaRPr sz="1100" dirty="0">
              <a:latin typeface="Tahoma"/>
              <a:cs typeface="Tahoma"/>
            </a:endParaRPr>
          </a:p>
          <a:p>
            <a:pPr marL="12700" marR="11811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Key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enablers:</a:t>
            </a:r>
            <a:r>
              <a:rPr sz="1100" spc="120" dirty="0">
                <a:latin typeface="Tahoma"/>
                <a:cs typeface="Tahoma"/>
              </a:rPr>
              <a:t> </a:t>
            </a:r>
            <a:r>
              <a:rPr sz="1100" spc="-125" dirty="0">
                <a:latin typeface="Arial Black"/>
                <a:cs typeface="Arial Black"/>
              </a:rPr>
              <a:t>Orthogonal</a:t>
            </a:r>
            <a:r>
              <a:rPr sz="1100" spc="30" dirty="0">
                <a:latin typeface="Arial Black"/>
                <a:cs typeface="Arial Black"/>
              </a:rPr>
              <a:t> </a:t>
            </a:r>
            <a:r>
              <a:rPr sz="1100" spc="-30" dirty="0">
                <a:latin typeface="Arial Black"/>
                <a:cs typeface="Arial Black"/>
              </a:rPr>
              <a:t>Frequency </a:t>
            </a:r>
            <a:r>
              <a:rPr sz="1100" spc="-110" dirty="0">
                <a:latin typeface="Arial Black"/>
                <a:cs typeface="Arial Black"/>
              </a:rPr>
              <a:t>Division</a:t>
            </a:r>
            <a:r>
              <a:rPr sz="1100" spc="30" dirty="0">
                <a:latin typeface="Arial Black"/>
                <a:cs typeface="Arial Black"/>
              </a:rPr>
              <a:t> </a:t>
            </a:r>
            <a:r>
              <a:rPr sz="1100" spc="-95" dirty="0">
                <a:latin typeface="Arial Black"/>
                <a:cs typeface="Arial Black"/>
              </a:rPr>
              <a:t>Multiple</a:t>
            </a:r>
            <a:r>
              <a:rPr sz="1100" spc="30" dirty="0">
                <a:latin typeface="Arial Black"/>
                <a:cs typeface="Arial Black"/>
              </a:rPr>
              <a:t> </a:t>
            </a:r>
            <a:r>
              <a:rPr sz="1100" spc="-195" dirty="0">
                <a:latin typeface="Arial Black"/>
                <a:cs typeface="Arial Black"/>
              </a:rPr>
              <a:t>Access</a:t>
            </a:r>
            <a:r>
              <a:rPr sz="1100" spc="35" dirty="0">
                <a:latin typeface="Arial Black"/>
                <a:cs typeface="Arial Black"/>
              </a:rPr>
              <a:t> </a:t>
            </a:r>
            <a:r>
              <a:rPr sz="1100" dirty="0">
                <a:latin typeface="Arial Black"/>
                <a:cs typeface="Arial Black"/>
              </a:rPr>
              <a:t>(OFDMA)</a:t>
            </a:r>
            <a:r>
              <a:rPr sz="1100" spc="-5" dirty="0">
                <a:latin typeface="Arial Black"/>
                <a:cs typeface="Arial Black"/>
              </a:rPr>
              <a:t> </a:t>
            </a:r>
            <a:r>
              <a:rPr sz="1100" spc="-25" dirty="0">
                <a:latin typeface="Tahoma"/>
                <a:cs typeface="Tahoma"/>
              </a:rPr>
              <a:t>and </a:t>
            </a:r>
            <a:r>
              <a:rPr sz="1100" spc="-95" dirty="0">
                <a:latin typeface="Arial Black"/>
                <a:cs typeface="Arial Black"/>
              </a:rPr>
              <a:t>Multiple</a:t>
            </a:r>
            <a:r>
              <a:rPr sz="1100" spc="35" dirty="0">
                <a:latin typeface="Arial Black"/>
                <a:cs typeface="Arial Black"/>
              </a:rPr>
              <a:t> </a:t>
            </a:r>
            <a:r>
              <a:rPr sz="1100" spc="-100" dirty="0">
                <a:latin typeface="Arial Black"/>
                <a:cs typeface="Arial Black"/>
              </a:rPr>
              <a:t>Input</a:t>
            </a:r>
            <a:r>
              <a:rPr sz="1100" spc="40" dirty="0">
                <a:latin typeface="Arial Black"/>
                <a:cs typeface="Arial Black"/>
              </a:rPr>
              <a:t> </a:t>
            </a:r>
            <a:r>
              <a:rPr sz="1100" spc="-95" dirty="0">
                <a:latin typeface="Arial Black"/>
                <a:cs typeface="Arial Black"/>
              </a:rPr>
              <a:t>Multiple</a:t>
            </a:r>
            <a:r>
              <a:rPr sz="1100" spc="40" dirty="0">
                <a:latin typeface="Arial Black"/>
                <a:cs typeface="Arial Black"/>
              </a:rPr>
              <a:t> </a:t>
            </a:r>
            <a:r>
              <a:rPr sz="1100" spc="-85" dirty="0">
                <a:latin typeface="Arial Black"/>
                <a:cs typeface="Arial Black"/>
              </a:rPr>
              <a:t>Output</a:t>
            </a:r>
            <a:r>
              <a:rPr sz="1100" spc="35" dirty="0">
                <a:latin typeface="Arial Black"/>
                <a:cs typeface="Arial Black"/>
              </a:rPr>
              <a:t> </a:t>
            </a:r>
            <a:r>
              <a:rPr sz="1100" spc="-10" dirty="0">
                <a:latin typeface="Arial Black"/>
                <a:cs typeface="Arial Black"/>
              </a:rPr>
              <a:t>(MIMO)</a:t>
            </a:r>
            <a:r>
              <a:rPr sz="1100" spc="-10" dirty="0"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632475" y="495239"/>
            <a:ext cx="1511300" cy="1108710"/>
            <a:chOff x="3632475" y="495239"/>
            <a:chExt cx="1511300" cy="1108710"/>
          </a:xfrm>
        </p:grpSpPr>
        <p:sp>
          <p:nvSpPr>
            <p:cNvPr id="9" name="object 9"/>
            <p:cNvSpPr/>
            <p:nvPr/>
          </p:nvSpPr>
          <p:spPr>
            <a:xfrm>
              <a:off x="3766639" y="497779"/>
              <a:ext cx="1242695" cy="369570"/>
            </a:xfrm>
            <a:custGeom>
              <a:avLst/>
              <a:gdLst/>
              <a:ahLst/>
              <a:cxnLst/>
              <a:rect l="l" t="t" r="r" b="b"/>
              <a:pathLst>
                <a:path w="1242695" h="369569">
                  <a:moveTo>
                    <a:pt x="1217040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43699"/>
                  </a:lnTo>
                  <a:lnTo>
                    <a:pt x="1988" y="353550"/>
                  </a:lnTo>
                  <a:lnTo>
                    <a:pt x="7411" y="361593"/>
                  </a:lnTo>
                  <a:lnTo>
                    <a:pt x="15455" y="367016"/>
                  </a:lnTo>
                  <a:lnTo>
                    <a:pt x="25305" y="369005"/>
                  </a:lnTo>
                  <a:lnTo>
                    <a:pt x="1217040" y="369005"/>
                  </a:lnTo>
                  <a:lnTo>
                    <a:pt x="1226890" y="367016"/>
                  </a:lnTo>
                  <a:lnTo>
                    <a:pt x="1234933" y="361593"/>
                  </a:lnTo>
                  <a:lnTo>
                    <a:pt x="1240356" y="353550"/>
                  </a:lnTo>
                  <a:lnTo>
                    <a:pt x="1242345" y="343699"/>
                  </a:lnTo>
                  <a:lnTo>
                    <a:pt x="1242345" y="25305"/>
                  </a:lnTo>
                  <a:lnTo>
                    <a:pt x="1240356" y="15455"/>
                  </a:lnTo>
                  <a:lnTo>
                    <a:pt x="1234933" y="7411"/>
                  </a:lnTo>
                  <a:lnTo>
                    <a:pt x="1226890" y="1988"/>
                  </a:lnTo>
                  <a:lnTo>
                    <a:pt x="1217040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66639" y="497779"/>
              <a:ext cx="1242695" cy="369570"/>
            </a:xfrm>
            <a:custGeom>
              <a:avLst/>
              <a:gdLst/>
              <a:ahLst/>
              <a:cxnLst/>
              <a:rect l="l" t="t" r="r" b="b"/>
              <a:pathLst>
                <a:path w="1242695" h="369569">
                  <a:moveTo>
                    <a:pt x="1217040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43699"/>
                  </a:lnTo>
                  <a:lnTo>
                    <a:pt x="1988" y="353550"/>
                  </a:lnTo>
                  <a:lnTo>
                    <a:pt x="7411" y="361593"/>
                  </a:lnTo>
                  <a:lnTo>
                    <a:pt x="15455" y="367016"/>
                  </a:lnTo>
                  <a:lnTo>
                    <a:pt x="25305" y="369005"/>
                  </a:lnTo>
                  <a:lnTo>
                    <a:pt x="1217040" y="369005"/>
                  </a:lnTo>
                  <a:lnTo>
                    <a:pt x="1226890" y="367016"/>
                  </a:lnTo>
                  <a:lnTo>
                    <a:pt x="1234933" y="361593"/>
                  </a:lnTo>
                  <a:lnTo>
                    <a:pt x="1240356" y="353550"/>
                  </a:lnTo>
                  <a:lnTo>
                    <a:pt x="1242345" y="343699"/>
                  </a:lnTo>
                  <a:lnTo>
                    <a:pt x="1242345" y="25305"/>
                  </a:lnTo>
                  <a:lnTo>
                    <a:pt x="1240356" y="15455"/>
                  </a:lnTo>
                  <a:lnTo>
                    <a:pt x="1234933" y="7411"/>
                  </a:lnTo>
                  <a:lnTo>
                    <a:pt x="1226890" y="1988"/>
                  </a:lnTo>
                  <a:lnTo>
                    <a:pt x="1217040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35015" y="1231853"/>
              <a:ext cx="1506220" cy="369570"/>
            </a:xfrm>
            <a:custGeom>
              <a:avLst/>
              <a:gdLst/>
              <a:ahLst/>
              <a:cxnLst/>
              <a:rect l="l" t="t" r="r" b="b"/>
              <a:pathLst>
                <a:path w="1506220" h="369569">
                  <a:moveTo>
                    <a:pt x="148028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43700"/>
                  </a:lnTo>
                  <a:lnTo>
                    <a:pt x="1988" y="353550"/>
                  </a:lnTo>
                  <a:lnTo>
                    <a:pt x="7411" y="361594"/>
                  </a:lnTo>
                  <a:lnTo>
                    <a:pt x="15455" y="367017"/>
                  </a:lnTo>
                  <a:lnTo>
                    <a:pt x="25305" y="369005"/>
                  </a:lnTo>
                  <a:lnTo>
                    <a:pt x="1480288" y="369005"/>
                  </a:lnTo>
                  <a:lnTo>
                    <a:pt x="1490138" y="367017"/>
                  </a:lnTo>
                  <a:lnTo>
                    <a:pt x="1498181" y="361594"/>
                  </a:lnTo>
                  <a:lnTo>
                    <a:pt x="1503605" y="353550"/>
                  </a:lnTo>
                  <a:lnTo>
                    <a:pt x="1505593" y="343700"/>
                  </a:lnTo>
                  <a:lnTo>
                    <a:pt x="1505593" y="25305"/>
                  </a:lnTo>
                  <a:lnTo>
                    <a:pt x="1503605" y="15455"/>
                  </a:lnTo>
                  <a:lnTo>
                    <a:pt x="1498181" y="7411"/>
                  </a:lnTo>
                  <a:lnTo>
                    <a:pt x="1490138" y="1988"/>
                  </a:lnTo>
                  <a:lnTo>
                    <a:pt x="1480288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35015" y="1231853"/>
              <a:ext cx="1506220" cy="369570"/>
            </a:xfrm>
            <a:custGeom>
              <a:avLst/>
              <a:gdLst/>
              <a:ahLst/>
              <a:cxnLst/>
              <a:rect l="l" t="t" r="r" b="b"/>
              <a:pathLst>
                <a:path w="1506220" h="369569">
                  <a:moveTo>
                    <a:pt x="148028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43700"/>
                  </a:lnTo>
                  <a:lnTo>
                    <a:pt x="1988" y="353550"/>
                  </a:lnTo>
                  <a:lnTo>
                    <a:pt x="7411" y="361594"/>
                  </a:lnTo>
                  <a:lnTo>
                    <a:pt x="15455" y="367017"/>
                  </a:lnTo>
                  <a:lnTo>
                    <a:pt x="25305" y="369005"/>
                  </a:lnTo>
                  <a:lnTo>
                    <a:pt x="1480288" y="369005"/>
                  </a:lnTo>
                  <a:lnTo>
                    <a:pt x="1490138" y="367017"/>
                  </a:lnTo>
                  <a:lnTo>
                    <a:pt x="1498181" y="361594"/>
                  </a:lnTo>
                  <a:lnTo>
                    <a:pt x="1503605" y="353550"/>
                  </a:lnTo>
                  <a:lnTo>
                    <a:pt x="1505593" y="343700"/>
                  </a:lnTo>
                  <a:lnTo>
                    <a:pt x="1505593" y="25305"/>
                  </a:lnTo>
                  <a:lnTo>
                    <a:pt x="1503605" y="15455"/>
                  </a:lnTo>
                  <a:lnTo>
                    <a:pt x="1498181" y="7411"/>
                  </a:lnTo>
                  <a:lnTo>
                    <a:pt x="1490138" y="1988"/>
                  </a:lnTo>
                  <a:lnTo>
                    <a:pt x="1480288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645973" y="1231981"/>
            <a:ext cx="149161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34925" indent="-321310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latin typeface="Tahoma"/>
                <a:cs typeface="Tahoma"/>
              </a:rPr>
              <a:t>Evolved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Node </a:t>
            </a:r>
            <a:r>
              <a:rPr sz="1000" spc="75" dirty="0">
                <a:latin typeface="Tahoma"/>
                <a:cs typeface="Tahoma"/>
              </a:rPr>
              <a:t>B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(eNodeB) (Base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Station)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606992" y="1963401"/>
            <a:ext cx="1562100" cy="1133475"/>
            <a:chOff x="3606992" y="1963401"/>
            <a:chExt cx="1562100" cy="1133475"/>
          </a:xfrm>
        </p:grpSpPr>
        <p:sp>
          <p:nvSpPr>
            <p:cNvPr id="15" name="object 15"/>
            <p:cNvSpPr/>
            <p:nvPr/>
          </p:nvSpPr>
          <p:spPr>
            <a:xfrm>
              <a:off x="3609532" y="1965941"/>
              <a:ext cx="1557020" cy="324485"/>
            </a:xfrm>
            <a:custGeom>
              <a:avLst/>
              <a:gdLst/>
              <a:ahLst/>
              <a:cxnLst/>
              <a:rect l="l" t="t" r="r" b="b"/>
              <a:pathLst>
                <a:path w="1557020" h="324485">
                  <a:moveTo>
                    <a:pt x="1531253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98696"/>
                  </a:lnTo>
                  <a:lnTo>
                    <a:pt x="1988" y="308546"/>
                  </a:lnTo>
                  <a:lnTo>
                    <a:pt x="7411" y="316590"/>
                  </a:lnTo>
                  <a:lnTo>
                    <a:pt x="15455" y="322013"/>
                  </a:lnTo>
                  <a:lnTo>
                    <a:pt x="25305" y="324001"/>
                  </a:lnTo>
                  <a:lnTo>
                    <a:pt x="1531253" y="324001"/>
                  </a:lnTo>
                  <a:lnTo>
                    <a:pt x="1541103" y="322013"/>
                  </a:lnTo>
                  <a:lnTo>
                    <a:pt x="1549146" y="316590"/>
                  </a:lnTo>
                  <a:lnTo>
                    <a:pt x="1554569" y="308546"/>
                  </a:lnTo>
                  <a:lnTo>
                    <a:pt x="1556558" y="298696"/>
                  </a:lnTo>
                  <a:lnTo>
                    <a:pt x="1556558" y="25305"/>
                  </a:lnTo>
                  <a:lnTo>
                    <a:pt x="1554569" y="15455"/>
                  </a:lnTo>
                  <a:lnTo>
                    <a:pt x="1549146" y="7411"/>
                  </a:lnTo>
                  <a:lnTo>
                    <a:pt x="1541103" y="1988"/>
                  </a:lnTo>
                  <a:lnTo>
                    <a:pt x="1531253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09532" y="1965941"/>
              <a:ext cx="1557020" cy="324485"/>
            </a:xfrm>
            <a:custGeom>
              <a:avLst/>
              <a:gdLst/>
              <a:ahLst/>
              <a:cxnLst/>
              <a:rect l="l" t="t" r="r" b="b"/>
              <a:pathLst>
                <a:path w="1557020" h="324485">
                  <a:moveTo>
                    <a:pt x="1531253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98696"/>
                  </a:lnTo>
                  <a:lnTo>
                    <a:pt x="1988" y="308546"/>
                  </a:lnTo>
                  <a:lnTo>
                    <a:pt x="7411" y="316590"/>
                  </a:lnTo>
                  <a:lnTo>
                    <a:pt x="15455" y="322013"/>
                  </a:lnTo>
                  <a:lnTo>
                    <a:pt x="25305" y="324001"/>
                  </a:lnTo>
                  <a:lnTo>
                    <a:pt x="1531253" y="324001"/>
                  </a:lnTo>
                  <a:lnTo>
                    <a:pt x="1541103" y="322013"/>
                  </a:lnTo>
                  <a:lnTo>
                    <a:pt x="1549146" y="316590"/>
                  </a:lnTo>
                  <a:lnTo>
                    <a:pt x="1554569" y="308546"/>
                  </a:lnTo>
                  <a:lnTo>
                    <a:pt x="1556558" y="298696"/>
                  </a:lnTo>
                  <a:lnTo>
                    <a:pt x="1556558" y="25305"/>
                  </a:lnTo>
                  <a:lnTo>
                    <a:pt x="1554569" y="15455"/>
                  </a:lnTo>
                  <a:lnTo>
                    <a:pt x="1549146" y="7411"/>
                  </a:lnTo>
                  <a:lnTo>
                    <a:pt x="1541103" y="1988"/>
                  </a:lnTo>
                  <a:lnTo>
                    <a:pt x="1531253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921213" y="2655038"/>
              <a:ext cx="933450" cy="439420"/>
            </a:xfrm>
            <a:custGeom>
              <a:avLst/>
              <a:gdLst/>
              <a:ahLst/>
              <a:cxnLst/>
              <a:rect l="l" t="t" r="r" b="b"/>
              <a:pathLst>
                <a:path w="933450" h="439419">
                  <a:moveTo>
                    <a:pt x="466598" y="0"/>
                  </a:moveTo>
                  <a:lnTo>
                    <a:pt x="435245" y="4979"/>
                  </a:lnTo>
                  <a:lnTo>
                    <a:pt x="404147" y="18559"/>
                  </a:lnTo>
                  <a:lnTo>
                    <a:pt x="376836" y="38699"/>
                  </a:lnTo>
                  <a:lnTo>
                    <a:pt x="356847" y="63361"/>
                  </a:lnTo>
                  <a:lnTo>
                    <a:pt x="335043" y="44851"/>
                  </a:lnTo>
                  <a:lnTo>
                    <a:pt x="307511" y="31562"/>
                  </a:lnTo>
                  <a:lnTo>
                    <a:pt x="277716" y="24713"/>
                  </a:lnTo>
                  <a:lnTo>
                    <a:pt x="249126" y="25522"/>
                  </a:lnTo>
                  <a:lnTo>
                    <a:pt x="222190" y="35150"/>
                  </a:lnTo>
                  <a:lnTo>
                    <a:pt x="196907" y="52352"/>
                  </a:lnTo>
                  <a:lnTo>
                    <a:pt x="176068" y="74733"/>
                  </a:lnTo>
                  <a:lnTo>
                    <a:pt x="162469" y="99897"/>
                  </a:lnTo>
                  <a:lnTo>
                    <a:pt x="143848" y="91779"/>
                  </a:lnTo>
                  <a:lnTo>
                    <a:pt x="122402" y="88386"/>
                  </a:lnTo>
                  <a:lnTo>
                    <a:pt x="100737" y="89836"/>
                  </a:lnTo>
                  <a:lnTo>
                    <a:pt x="81461" y="96246"/>
                  </a:lnTo>
                  <a:lnTo>
                    <a:pt x="65116" y="108315"/>
                  </a:lnTo>
                  <a:lnTo>
                    <a:pt x="51446" y="125195"/>
                  </a:lnTo>
                  <a:lnTo>
                    <a:pt x="41860" y="144687"/>
                  </a:lnTo>
                  <a:lnTo>
                    <a:pt x="37769" y="164587"/>
                  </a:lnTo>
                  <a:lnTo>
                    <a:pt x="26593" y="168718"/>
                  </a:lnTo>
                  <a:lnTo>
                    <a:pt x="16140" y="175997"/>
                  </a:lnTo>
                  <a:lnTo>
                    <a:pt x="7563" y="185413"/>
                  </a:lnTo>
                  <a:lnTo>
                    <a:pt x="2011" y="195957"/>
                  </a:lnTo>
                  <a:lnTo>
                    <a:pt x="0" y="207703"/>
                  </a:lnTo>
                  <a:lnTo>
                    <a:pt x="1075" y="220397"/>
                  </a:lnTo>
                  <a:lnTo>
                    <a:pt x="4939" y="232536"/>
                  </a:lnTo>
                  <a:lnTo>
                    <a:pt x="11294" y="242616"/>
                  </a:lnTo>
                  <a:lnTo>
                    <a:pt x="10127" y="258058"/>
                  </a:lnTo>
                  <a:lnTo>
                    <a:pt x="29008" y="301842"/>
                  </a:lnTo>
                  <a:lnTo>
                    <a:pt x="73805" y="318170"/>
                  </a:lnTo>
                  <a:lnTo>
                    <a:pt x="89153" y="316115"/>
                  </a:lnTo>
                  <a:lnTo>
                    <a:pt x="98259" y="339322"/>
                  </a:lnTo>
                  <a:lnTo>
                    <a:pt x="113919" y="360882"/>
                  </a:lnTo>
                  <a:lnTo>
                    <a:pt x="133973" y="378431"/>
                  </a:lnTo>
                  <a:lnTo>
                    <a:pt x="156258" y="389603"/>
                  </a:lnTo>
                  <a:lnTo>
                    <a:pt x="180910" y="393322"/>
                  </a:lnTo>
                  <a:lnTo>
                    <a:pt x="207416" y="390545"/>
                  </a:lnTo>
                  <a:lnTo>
                    <a:pt x="232644" y="381957"/>
                  </a:lnTo>
                  <a:lnTo>
                    <a:pt x="253464" y="368245"/>
                  </a:lnTo>
                  <a:lnTo>
                    <a:pt x="270759" y="393903"/>
                  </a:lnTo>
                  <a:lnTo>
                    <a:pt x="295550" y="415799"/>
                  </a:lnTo>
                  <a:lnTo>
                    <a:pt x="324580" y="431649"/>
                  </a:lnTo>
                  <a:lnTo>
                    <a:pt x="354595" y="439172"/>
                  </a:lnTo>
                  <a:lnTo>
                    <a:pt x="385465" y="437025"/>
                  </a:lnTo>
                  <a:lnTo>
                    <a:pt x="416827" y="426507"/>
                  </a:lnTo>
                  <a:lnTo>
                    <a:pt x="445074" y="409294"/>
                  </a:lnTo>
                  <a:lnTo>
                    <a:pt x="466598" y="387063"/>
                  </a:lnTo>
                  <a:lnTo>
                    <a:pt x="488120" y="409295"/>
                  </a:lnTo>
                  <a:lnTo>
                    <a:pt x="516363" y="426509"/>
                  </a:lnTo>
                  <a:lnTo>
                    <a:pt x="547722" y="437028"/>
                  </a:lnTo>
                  <a:lnTo>
                    <a:pt x="578590" y="439176"/>
                  </a:lnTo>
                  <a:lnTo>
                    <a:pt x="608607" y="431653"/>
                  </a:lnTo>
                  <a:lnTo>
                    <a:pt x="637641" y="415801"/>
                  </a:lnTo>
                  <a:lnTo>
                    <a:pt x="662435" y="393904"/>
                  </a:lnTo>
                  <a:lnTo>
                    <a:pt x="679731" y="368245"/>
                  </a:lnTo>
                  <a:lnTo>
                    <a:pt x="700550" y="381958"/>
                  </a:lnTo>
                  <a:lnTo>
                    <a:pt x="725775" y="390548"/>
                  </a:lnTo>
                  <a:lnTo>
                    <a:pt x="752277" y="393329"/>
                  </a:lnTo>
                  <a:lnTo>
                    <a:pt x="776927" y="389611"/>
                  </a:lnTo>
                  <a:lnTo>
                    <a:pt x="799215" y="378437"/>
                  </a:lnTo>
                  <a:lnTo>
                    <a:pt x="819271" y="360886"/>
                  </a:lnTo>
                  <a:lnTo>
                    <a:pt x="834935" y="339323"/>
                  </a:lnTo>
                  <a:lnTo>
                    <a:pt x="844043" y="316115"/>
                  </a:lnTo>
                  <a:lnTo>
                    <a:pt x="859391" y="318170"/>
                  </a:lnTo>
                  <a:lnTo>
                    <a:pt x="904190" y="301841"/>
                  </a:lnTo>
                  <a:lnTo>
                    <a:pt x="923069" y="258058"/>
                  </a:lnTo>
                  <a:lnTo>
                    <a:pt x="921902" y="242616"/>
                  </a:lnTo>
                  <a:lnTo>
                    <a:pt x="928257" y="232537"/>
                  </a:lnTo>
                  <a:lnTo>
                    <a:pt x="932122" y="220400"/>
                  </a:lnTo>
                  <a:lnTo>
                    <a:pt x="933198" y="207709"/>
                  </a:lnTo>
                  <a:lnTo>
                    <a:pt x="931187" y="195964"/>
                  </a:lnTo>
                  <a:lnTo>
                    <a:pt x="925635" y="185419"/>
                  </a:lnTo>
                  <a:lnTo>
                    <a:pt x="917057" y="176000"/>
                  </a:lnTo>
                  <a:lnTo>
                    <a:pt x="906603" y="168719"/>
                  </a:lnTo>
                  <a:lnTo>
                    <a:pt x="895426" y="164587"/>
                  </a:lnTo>
                  <a:lnTo>
                    <a:pt x="891339" y="144689"/>
                  </a:lnTo>
                  <a:lnTo>
                    <a:pt x="868098" y="108326"/>
                  </a:lnTo>
                  <a:lnTo>
                    <a:pt x="832477" y="89847"/>
                  </a:lnTo>
                  <a:lnTo>
                    <a:pt x="810805" y="88393"/>
                  </a:lnTo>
                  <a:lnTo>
                    <a:pt x="789351" y="91781"/>
                  </a:lnTo>
                  <a:lnTo>
                    <a:pt x="770726" y="99897"/>
                  </a:lnTo>
                  <a:lnTo>
                    <a:pt x="757131" y="74734"/>
                  </a:lnTo>
                  <a:lnTo>
                    <a:pt x="736301" y="52357"/>
                  </a:lnTo>
                  <a:lnTo>
                    <a:pt x="711025" y="35159"/>
                  </a:lnTo>
                  <a:lnTo>
                    <a:pt x="684093" y="25532"/>
                  </a:lnTo>
                  <a:lnTo>
                    <a:pt x="655499" y="24722"/>
                  </a:lnTo>
                  <a:lnTo>
                    <a:pt x="625697" y="31567"/>
                  </a:lnTo>
                  <a:lnTo>
                    <a:pt x="598156" y="44852"/>
                  </a:lnTo>
                  <a:lnTo>
                    <a:pt x="576349" y="63361"/>
                  </a:lnTo>
                  <a:lnTo>
                    <a:pt x="556359" y="38699"/>
                  </a:lnTo>
                  <a:lnTo>
                    <a:pt x="529049" y="18559"/>
                  </a:lnTo>
                  <a:lnTo>
                    <a:pt x="497951" y="4979"/>
                  </a:lnTo>
                  <a:lnTo>
                    <a:pt x="466598" y="0"/>
                  </a:lnTo>
                  <a:close/>
                </a:path>
              </a:pathLst>
            </a:custGeom>
            <a:solidFill>
              <a:srgbClr val="F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921213" y="2655038"/>
              <a:ext cx="933450" cy="439420"/>
            </a:xfrm>
            <a:custGeom>
              <a:avLst/>
              <a:gdLst/>
              <a:ahLst/>
              <a:cxnLst/>
              <a:rect l="l" t="t" r="r" b="b"/>
              <a:pathLst>
                <a:path w="933450" h="439419">
                  <a:moveTo>
                    <a:pt x="576349" y="63361"/>
                  </a:moveTo>
                  <a:lnTo>
                    <a:pt x="556359" y="38699"/>
                  </a:lnTo>
                  <a:lnTo>
                    <a:pt x="529049" y="18559"/>
                  </a:lnTo>
                  <a:lnTo>
                    <a:pt x="497951" y="4979"/>
                  </a:lnTo>
                  <a:lnTo>
                    <a:pt x="466598" y="0"/>
                  </a:lnTo>
                  <a:lnTo>
                    <a:pt x="435245" y="4979"/>
                  </a:lnTo>
                  <a:lnTo>
                    <a:pt x="404147" y="18559"/>
                  </a:lnTo>
                  <a:lnTo>
                    <a:pt x="376836" y="38699"/>
                  </a:lnTo>
                  <a:lnTo>
                    <a:pt x="356847" y="63361"/>
                  </a:lnTo>
                  <a:lnTo>
                    <a:pt x="335043" y="44851"/>
                  </a:lnTo>
                  <a:lnTo>
                    <a:pt x="307511" y="31562"/>
                  </a:lnTo>
                  <a:lnTo>
                    <a:pt x="277716" y="24713"/>
                  </a:lnTo>
                  <a:lnTo>
                    <a:pt x="249126" y="25522"/>
                  </a:lnTo>
                  <a:lnTo>
                    <a:pt x="222190" y="35150"/>
                  </a:lnTo>
                  <a:lnTo>
                    <a:pt x="196907" y="52352"/>
                  </a:lnTo>
                  <a:lnTo>
                    <a:pt x="176068" y="74733"/>
                  </a:lnTo>
                  <a:lnTo>
                    <a:pt x="162469" y="99897"/>
                  </a:lnTo>
                  <a:lnTo>
                    <a:pt x="143848" y="91779"/>
                  </a:lnTo>
                  <a:lnTo>
                    <a:pt x="122402" y="88386"/>
                  </a:lnTo>
                  <a:lnTo>
                    <a:pt x="100737" y="89836"/>
                  </a:lnTo>
                  <a:lnTo>
                    <a:pt x="81461" y="96246"/>
                  </a:lnTo>
                  <a:lnTo>
                    <a:pt x="65116" y="108315"/>
                  </a:lnTo>
                  <a:lnTo>
                    <a:pt x="51446" y="125195"/>
                  </a:lnTo>
                  <a:lnTo>
                    <a:pt x="41860" y="144687"/>
                  </a:lnTo>
                  <a:lnTo>
                    <a:pt x="37769" y="164587"/>
                  </a:lnTo>
                  <a:lnTo>
                    <a:pt x="26593" y="168718"/>
                  </a:lnTo>
                  <a:lnTo>
                    <a:pt x="16140" y="175997"/>
                  </a:lnTo>
                  <a:lnTo>
                    <a:pt x="7563" y="185413"/>
                  </a:lnTo>
                  <a:lnTo>
                    <a:pt x="2011" y="195957"/>
                  </a:lnTo>
                  <a:lnTo>
                    <a:pt x="0" y="207703"/>
                  </a:lnTo>
                  <a:lnTo>
                    <a:pt x="1075" y="220397"/>
                  </a:lnTo>
                  <a:lnTo>
                    <a:pt x="4939" y="232536"/>
                  </a:lnTo>
                  <a:lnTo>
                    <a:pt x="11294" y="242616"/>
                  </a:lnTo>
                  <a:lnTo>
                    <a:pt x="10127" y="258058"/>
                  </a:lnTo>
                  <a:lnTo>
                    <a:pt x="29008" y="301842"/>
                  </a:lnTo>
                  <a:lnTo>
                    <a:pt x="73805" y="318170"/>
                  </a:lnTo>
                  <a:lnTo>
                    <a:pt x="89153" y="316115"/>
                  </a:lnTo>
                  <a:lnTo>
                    <a:pt x="98259" y="339322"/>
                  </a:lnTo>
                  <a:lnTo>
                    <a:pt x="113919" y="360882"/>
                  </a:lnTo>
                  <a:lnTo>
                    <a:pt x="133973" y="378431"/>
                  </a:lnTo>
                  <a:lnTo>
                    <a:pt x="156258" y="389603"/>
                  </a:lnTo>
                  <a:lnTo>
                    <a:pt x="180910" y="393322"/>
                  </a:lnTo>
                  <a:lnTo>
                    <a:pt x="207416" y="390545"/>
                  </a:lnTo>
                  <a:lnTo>
                    <a:pt x="232644" y="381957"/>
                  </a:lnTo>
                  <a:lnTo>
                    <a:pt x="253464" y="368245"/>
                  </a:lnTo>
                  <a:lnTo>
                    <a:pt x="270759" y="393903"/>
                  </a:lnTo>
                  <a:lnTo>
                    <a:pt x="295550" y="415799"/>
                  </a:lnTo>
                  <a:lnTo>
                    <a:pt x="324580" y="431649"/>
                  </a:lnTo>
                  <a:lnTo>
                    <a:pt x="354595" y="439172"/>
                  </a:lnTo>
                  <a:lnTo>
                    <a:pt x="385465" y="437025"/>
                  </a:lnTo>
                  <a:lnTo>
                    <a:pt x="416827" y="426507"/>
                  </a:lnTo>
                  <a:lnTo>
                    <a:pt x="445074" y="409294"/>
                  </a:lnTo>
                  <a:lnTo>
                    <a:pt x="466598" y="387063"/>
                  </a:lnTo>
                  <a:lnTo>
                    <a:pt x="488120" y="409295"/>
                  </a:lnTo>
                  <a:lnTo>
                    <a:pt x="516363" y="426509"/>
                  </a:lnTo>
                  <a:lnTo>
                    <a:pt x="547722" y="437028"/>
                  </a:lnTo>
                  <a:lnTo>
                    <a:pt x="578590" y="439176"/>
                  </a:lnTo>
                  <a:lnTo>
                    <a:pt x="608607" y="431653"/>
                  </a:lnTo>
                  <a:lnTo>
                    <a:pt x="637641" y="415801"/>
                  </a:lnTo>
                  <a:lnTo>
                    <a:pt x="662435" y="393904"/>
                  </a:lnTo>
                  <a:lnTo>
                    <a:pt x="679731" y="368245"/>
                  </a:lnTo>
                  <a:lnTo>
                    <a:pt x="700550" y="381958"/>
                  </a:lnTo>
                  <a:lnTo>
                    <a:pt x="725775" y="390548"/>
                  </a:lnTo>
                  <a:lnTo>
                    <a:pt x="752277" y="393329"/>
                  </a:lnTo>
                  <a:lnTo>
                    <a:pt x="776927" y="389611"/>
                  </a:lnTo>
                  <a:lnTo>
                    <a:pt x="799215" y="378437"/>
                  </a:lnTo>
                  <a:lnTo>
                    <a:pt x="819271" y="360886"/>
                  </a:lnTo>
                  <a:lnTo>
                    <a:pt x="834935" y="339323"/>
                  </a:lnTo>
                  <a:lnTo>
                    <a:pt x="844043" y="316115"/>
                  </a:lnTo>
                  <a:lnTo>
                    <a:pt x="859391" y="318170"/>
                  </a:lnTo>
                  <a:lnTo>
                    <a:pt x="904190" y="301841"/>
                  </a:lnTo>
                  <a:lnTo>
                    <a:pt x="923069" y="258058"/>
                  </a:lnTo>
                  <a:lnTo>
                    <a:pt x="921902" y="242616"/>
                  </a:lnTo>
                  <a:lnTo>
                    <a:pt x="928257" y="232537"/>
                  </a:lnTo>
                  <a:lnTo>
                    <a:pt x="932122" y="220400"/>
                  </a:lnTo>
                  <a:lnTo>
                    <a:pt x="933198" y="207709"/>
                  </a:lnTo>
                  <a:lnTo>
                    <a:pt x="931187" y="195964"/>
                  </a:lnTo>
                  <a:lnTo>
                    <a:pt x="925635" y="185419"/>
                  </a:lnTo>
                  <a:lnTo>
                    <a:pt x="917057" y="176000"/>
                  </a:lnTo>
                  <a:lnTo>
                    <a:pt x="906603" y="168719"/>
                  </a:lnTo>
                  <a:lnTo>
                    <a:pt x="895426" y="164587"/>
                  </a:lnTo>
                  <a:lnTo>
                    <a:pt x="891339" y="144689"/>
                  </a:lnTo>
                  <a:lnTo>
                    <a:pt x="868098" y="108326"/>
                  </a:lnTo>
                  <a:lnTo>
                    <a:pt x="832477" y="89847"/>
                  </a:lnTo>
                  <a:lnTo>
                    <a:pt x="810805" y="88393"/>
                  </a:lnTo>
                  <a:lnTo>
                    <a:pt x="789351" y="91781"/>
                  </a:lnTo>
                  <a:lnTo>
                    <a:pt x="770726" y="99897"/>
                  </a:lnTo>
                  <a:lnTo>
                    <a:pt x="757131" y="74734"/>
                  </a:lnTo>
                  <a:lnTo>
                    <a:pt x="736301" y="52357"/>
                  </a:lnTo>
                  <a:lnTo>
                    <a:pt x="711025" y="35159"/>
                  </a:lnTo>
                  <a:lnTo>
                    <a:pt x="684093" y="25532"/>
                  </a:lnTo>
                  <a:lnTo>
                    <a:pt x="655499" y="24722"/>
                  </a:lnTo>
                  <a:lnTo>
                    <a:pt x="625697" y="31567"/>
                  </a:lnTo>
                  <a:lnTo>
                    <a:pt x="598156" y="44852"/>
                  </a:lnTo>
                  <a:lnTo>
                    <a:pt x="576349" y="63361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168622" y="2782549"/>
            <a:ext cx="43878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45" dirty="0">
                <a:latin typeface="Tahoma"/>
                <a:cs typeface="Tahoma"/>
              </a:rPr>
              <a:t>Internet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360228" y="864238"/>
            <a:ext cx="55244" cy="349885"/>
            <a:chOff x="4360228" y="864238"/>
            <a:chExt cx="55244" cy="349885"/>
          </a:xfrm>
        </p:grpSpPr>
        <p:sp>
          <p:nvSpPr>
            <p:cNvPr id="21" name="object 21"/>
            <p:cNvSpPr/>
            <p:nvPr/>
          </p:nvSpPr>
          <p:spPr>
            <a:xfrm>
              <a:off x="4387811" y="869318"/>
              <a:ext cx="0" cy="281940"/>
            </a:xfrm>
            <a:custGeom>
              <a:avLst/>
              <a:gdLst/>
              <a:ahLst/>
              <a:cxnLst/>
              <a:rect l="l" t="t" r="r" b="b"/>
              <a:pathLst>
                <a:path h="281940">
                  <a:moveTo>
                    <a:pt x="0" y="0"/>
                  </a:moveTo>
                  <a:lnTo>
                    <a:pt x="0" y="281567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365308" y="1150886"/>
              <a:ext cx="45085" cy="57785"/>
            </a:xfrm>
            <a:custGeom>
              <a:avLst/>
              <a:gdLst/>
              <a:ahLst/>
              <a:cxnLst/>
              <a:rect l="l" t="t" r="r" b="b"/>
              <a:pathLst>
                <a:path w="45085" h="57784">
                  <a:moveTo>
                    <a:pt x="45007" y="0"/>
                  </a:moveTo>
                  <a:lnTo>
                    <a:pt x="0" y="0"/>
                  </a:lnTo>
                  <a:lnTo>
                    <a:pt x="7831" y="16197"/>
                  </a:lnTo>
                  <a:lnTo>
                    <a:pt x="14649" y="33422"/>
                  </a:lnTo>
                  <a:lnTo>
                    <a:pt x="19768" y="48331"/>
                  </a:lnTo>
                  <a:lnTo>
                    <a:pt x="22503" y="57579"/>
                  </a:lnTo>
                  <a:lnTo>
                    <a:pt x="25239" y="48331"/>
                  </a:lnTo>
                  <a:lnTo>
                    <a:pt x="30358" y="33422"/>
                  </a:lnTo>
                  <a:lnTo>
                    <a:pt x="37176" y="16197"/>
                  </a:lnTo>
                  <a:lnTo>
                    <a:pt x="450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365308" y="1150886"/>
              <a:ext cx="45085" cy="57785"/>
            </a:xfrm>
            <a:custGeom>
              <a:avLst/>
              <a:gdLst/>
              <a:ahLst/>
              <a:cxnLst/>
              <a:rect l="l" t="t" r="r" b="b"/>
              <a:pathLst>
                <a:path w="45085" h="57784">
                  <a:moveTo>
                    <a:pt x="22503" y="57579"/>
                  </a:moveTo>
                  <a:lnTo>
                    <a:pt x="25239" y="48331"/>
                  </a:lnTo>
                  <a:lnTo>
                    <a:pt x="30358" y="33422"/>
                  </a:lnTo>
                  <a:lnTo>
                    <a:pt x="37176" y="16197"/>
                  </a:lnTo>
                  <a:lnTo>
                    <a:pt x="45007" y="0"/>
                  </a:lnTo>
                  <a:lnTo>
                    <a:pt x="0" y="0"/>
                  </a:lnTo>
                  <a:lnTo>
                    <a:pt x="7831" y="16197"/>
                  </a:lnTo>
                  <a:lnTo>
                    <a:pt x="14649" y="33422"/>
                  </a:lnTo>
                  <a:lnTo>
                    <a:pt x="19768" y="48331"/>
                  </a:lnTo>
                  <a:lnTo>
                    <a:pt x="22503" y="57579"/>
                  </a:lnTo>
                  <a:close/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800119" y="497921"/>
            <a:ext cx="1175385" cy="538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Tahoma"/>
                <a:cs typeface="Tahoma"/>
              </a:rPr>
              <a:t>User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Equipment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(UE) </a:t>
            </a:r>
            <a:r>
              <a:rPr sz="1000" spc="-10" dirty="0">
                <a:latin typeface="Tahoma"/>
                <a:cs typeface="Tahoma"/>
              </a:rPr>
              <a:t>(Phone)</a:t>
            </a:r>
            <a:endParaRPr sz="1000">
              <a:latin typeface="Tahoma"/>
              <a:cs typeface="Tahoma"/>
            </a:endParaRPr>
          </a:p>
          <a:p>
            <a:pPr marL="635" algn="ctr">
              <a:lnSpc>
                <a:spcPct val="100000"/>
              </a:lnSpc>
              <a:spcBef>
                <a:spcPts val="440"/>
              </a:spcBef>
            </a:pPr>
            <a:r>
              <a:rPr sz="1000" dirty="0">
                <a:latin typeface="Tahoma"/>
                <a:cs typeface="Tahoma"/>
              </a:rPr>
              <a:t>LTE</a:t>
            </a:r>
            <a:r>
              <a:rPr sz="1000" spc="6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Air</a:t>
            </a:r>
            <a:r>
              <a:rPr sz="1000" spc="6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Interface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360228" y="1598326"/>
            <a:ext cx="55244" cy="349885"/>
            <a:chOff x="4360228" y="1598326"/>
            <a:chExt cx="55244" cy="349885"/>
          </a:xfrm>
        </p:grpSpPr>
        <p:sp>
          <p:nvSpPr>
            <p:cNvPr id="26" name="object 26"/>
            <p:cNvSpPr/>
            <p:nvPr/>
          </p:nvSpPr>
          <p:spPr>
            <a:xfrm>
              <a:off x="4387811" y="1603406"/>
              <a:ext cx="0" cy="281940"/>
            </a:xfrm>
            <a:custGeom>
              <a:avLst/>
              <a:gdLst/>
              <a:ahLst/>
              <a:cxnLst/>
              <a:rect l="l" t="t" r="r" b="b"/>
              <a:pathLst>
                <a:path h="281939">
                  <a:moveTo>
                    <a:pt x="0" y="0"/>
                  </a:moveTo>
                  <a:lnTo>
                    <a:pt x="0" y="281581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365308" y="1884987"/>
              <a:ext cx="45085" cy="57785"/>
            </a:xfrm>
            <a:custGeom>
              <a:avLst/>
              <a:gdLst/>
              <a:ahLst/>
              <a:cxnLst/>
              <a:rect l="l" t="t" r="r" b="b"/>
              <a:pathLst>
                <a:path w="45085" h="57785">
                  <a:moveTo>
                    <a:pt x="45007" y="0"/>
                  </a:moveTo>
                  <a:lnTo>
                    <a:pt x="0" y="0"/>
                  </a:lnTo>
                  <a:lnTo>
                    <a:pt x="7831" y="16197"/>
                  </a:lnTo>
                  <a:lnTo>
                    <a:pt x="14649" y="33422"/>
                  </a:lnTo>
                  <a:lnTo>
                    <a:pt x="19768" y="48331"/>
                  </a:lnTo>
                  <a:lnTo>
                    <a:pt x="22503" y="57579"/>
                  </a:lnTo>
                  <a:lnTo>
                    <a:pt x="25239" y="48331"/>
                  </a:lnTo>
                  <a:lnTo>
                    <a:pt x="30358" y="33422"/>
                  </a:lnTo>
                  <a:lnTo>
                    <a:pt x="37176" y="16197"/>
                  </a:lnTo>
                  <a:lnTo>
                    <a:pt x="450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365308" y="1884987"/>
              <a:ext cx="45085" cy="57785"/>
            </a:xfrm>
            <a:custGeom>
              <a:avLst/>
              <a:gdLst/>
              <a:ahLst/>
              <a:cxnLst/>
              <a:rect l="l" t="t" r="r" b="b"/>
              <a:pathLst>
                <a:path w="45085" h="57785">
                  <a:moveTo>
                    <a:pt x="22503" y="57579"/>
                  </a:moveTo>
                  <a:lnTo>
                    <a:pt x="25239" y="48331"/>
                  </a:lnTo>
                  <a:lnTo>
                    <a:pt x="30358" y="33422"/>
                  </a:lnTo>
                  <a:lnTo>
                    <a:pt x="37176" y="16197"/>
                  </a:lnTo>
                  <a:lnTo>
                    <a:pt x="45007" y="0"/>
                  </a:lnTo>
                  <a:lnTo>
                    <a:pt x="0" y="0"/>
                  </a:lnTo>
                  <a:lnTo>
                    <a:pt x="7831" y="16197"/>
                  </a:lnTo>
                  <a:lnTo>
                    <a:pt x="14649" y="33422"/>
                  </a:lnTo>
                  <a:lnTo>
                    <a:pt x="19768" y="48331"/>
                  </a:lnTo>
                  <a:lnTo>
                    <a:pt x="22503" y="57579"/>
                  </a:lnTo>
                  <a:close/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058437" y="1592940"/>
            <a:ext cx="659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ahoma"/>
                <a:cs typeface="Tahoma"/>
              </a:rPr>
              <a:t>S1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Interface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360228" y="2287423"/>
            <a:ext cx="55244" cy="349885"/>
            <a:chOff x="4360228" y="2287423"/>
            <a:chExt cx="55244" cy="349885"/>
          </a:xfrm>
        </p:grpSpPr>
        <p:sp>
          <p:nvSpPr>
            <p:cNvPr id="31" name="object 31"/>
            <p:cNvSpPr/>
            <p:nvPr/>
          </p:nvSpPr>
          <p:spPr>
            <a:xfrm>
              <a:off x="4387811" y="2292503"/>
              <a:ext cx="0" cy="281940"/>
            </a:xfrm>
            <a:custGeom>
              <a:avLst/>
              <a:gdLst/>
              <a:ahLst/>
              <a:cxnLst/>
              <a:rect l="l" t="t" r="r" b="b"/>
              <a:pathLst>
                <a:path h="281939">
                  <a:moveTo>
                    <a:pt x="0" y="0"/>
                  </a:moveTo>
                  <a:lnTo>
                    <a:pt x="0" y="281593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365308" y="2574097"/>
              <a:ext cx="45085" cy="57785"/>
            </a:xfrm>
            <a:custGeom>
              <a:avLst/>
              <a:gdLst/>
              <a:ahLst/>
              <a:cxnLst/>
              <a:rect l="l" t="t" r="r" b="b"/>
              <a:pathLst>
                <a:path w="45085" h="57785">
                  <a:moveTo>
                    <a:pt x="45007" y="0"/>
                  </a:moveTo>
                  <a:lnTo>
                    <a:pt x="0" y="0"/>
                  </a:lnTo>
                  <a:lnTo>
                    <a:pt x="7831" y="16197"/>
                  </a:lnTo>
                  <a:lnTo>
                    <a:pt x="14649" y="33422"/>
                  </a:lnTo>
                  <a:lnTo>
                    <a:pt x="19768" y="48331"/>
                  </a:lnTo>
                  <a:lnTo>
                    <a:pt x="22503" y="57579"/>
                  </a:lnTo>
                  <a:lnTo>
                    <a:pt x="25239" y="48331"/>
                  </a:lnTo>
                  <a:lnTo>
                    <a:pt x="30358" y="33422"/>
                  </a:lnTo>
                  <a:lnTo>
                    <a:pt x="37176" y="16197"/>
                  </a:lnTo>
                  <a:lnTo>
                    <a:pt x="450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365308" y="2574097"/>
              <a:ext cx="45085" cy="57785"/>
            </a:xfrm>
            <a:custGeom>
              <a:avLst/>
              <a:gdLst/>
              <a:ahLst/>
              <a:cxnLst/>
              <a:rect l="l" t="t" r="r" b="b"/>
              <a:pathLst>
                <a:path w="45085" h="57785">
                  <a:moveTo>
                    <a:pt x="22503" y="57579"/>
                  </a:moveTo>
                  <a:lnTo>
                    <a:pt x="25239" y="48331"/>
                  </a:lnTo>
                  <a:lnTo>
                    <a:pt x="30358" y="33422"/>
                  </a:lnTo>
                  <a:lnTo>
                    <a:pt x="37176" y="16197"/>
                  </a:lnTo>
                  <a:lnTo>
                    <a:pt x="45007" y="0"/>
                  </a:lnTo>
                  <a:lnTo>
                    <a:pt x="0" y="0"/>
                  </a:lnTo>
                  <a:lnTo>
                    <a:pt x="7831" y="16197"/>
                  </a:lnTo>
                  <a:lnTo>
                    <a:pt x="14649" y="33422"/>
                  </a:lnTo>
                  <a:lnTo>
                    <a:pt x="19768" y="48331"/>
                  </a:lnTo>
                  <a:lnTo>
                    <a:pt x="22503" y="57579"/>
                  </a:lnTo>
                  <a:close/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643020" y="1940388"/>
            <a:ext cx="1489710" cy="487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3830" marR="5080" indent="-151765">
              <a:lnSpc>
                <a:spcPct val="151500"/>
              </a:lnSpc>
              <a:spcBef>
                <a:spcPts val="100"/>
              </a:spcBef>
            </a:pPr>
            <a:r>
              <a:rPr sz="1000" spc="-30" dirty="0">
                <a:latin typeface="Tahoma"/>
                <a:cs typeface="Tahoma"/>
              </a:rPr>
              <a:t>Evolved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Packet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Core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(EPC) </a:t>
            </a:r>
            <a:r>
              <a:rPr sz="1000" spc="-40" dirty="0">
                <a:latin typeface="Tahoma"/>
                <a:cs typeface="Tahoma"/>
              </a:rPr>
              <a:t>Internet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Protocol</a:t>
            </a:r>
            <a:r>
              <a:rPr sz="1000" spc="-20" dirty="0">
                <a:latin typeface="Tahoma"/>
                <a:cs typeface="Tahoma"/>
              </a:rPr>
              <a:t> (IP)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36" name="object 36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Md.</a:t>
            </a:r>
            <a:r>
              <a:rPr spc="110" dirty="0"/>
              <a:t> </a:t>
            </a:r>
            <a:r>
              <a:rPr dirty="0"/>
              <a:t>Ashikujjaman</a:t>
            </a:r>
            <a:r>
              <a:rPr spc="35" dirty="0"/>
              <a:t> </a:t>
            </a:r>
            <a:r>
              <a:rPr dirty="0"/>
              <a:t>Nur</a:t>
            </a:r>
            <a:r>
              <a:rPr spc="35" dirty="0"/>
              <a:t> </a:t>
            </a:r>
            <a:r>
              <a:rPr dirty="0"/>
              <a:t>(IT-</a:t>
            </a:r>
            <a:r>
              <a:rPr spc="-10" dirty="0"/>
              <a:t>21013)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1963445" y="3105948"/>
            <a:ext cx="183324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latin typeface="Tahoma"/>
                <a:cs typeface="Tahoma"/>
                <a:hlinkClick r:id="rId6" action="ppaction://hlinksldjump"/>
              </a:rPr>
              <a:t>4G</a:t>
            </a:r>
            <a:r>
              <a:rPr sz="600" spc="40" dirty="0"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6" action="ppaction://hlinksldjump"/>
              </a:rPr>
              <a:t>(Long</a:t>
            </a:r>
            <a:r>
              <a:rPr sz="600" spc="40" dirty="0"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6" action="ppaction://hlinksldjump"/>
              </a:rPr>
              <a:t>Term</a:t>
            </a:r>
            <a:r>
              <a:rPr sz="600" spc="45" dirty="0"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6" action="ppaction://hlinksldjump"/>
              </a:rPr>
              <a:t>Evolution)</a:t>
            </a:r>
            <a:r>
              <a:rPr sz="600" spc="40" dirty="0"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6" action="ppaction://hlinksldjump"/>
              </a:rPr>
              <a:t>and</a:t>
            </a:r>
            <a:r>
              <a:rPr sz="600" spc="45" dirty="0"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6" action="ppaction://hlinksldjump"/>
              </a:rPr>
              <a:t>5G</a:t>
            </a:r>
            <a:r>
              <a:rPr sz="600" spc="40" dirty="0"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6" action="ppaction://hlinksldjump"/>
              </a:rPr>
              <a:t>(Fifth</a:t>
            </a:r>
            <a:r>
              <a:rPr sz="600" spc="45" dirty="0"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spc="-10" dirty="0">
                <a:latin typeface="Tahoma"/>
                <a:cs typeface="Tahoma"/>
                <a:hlinkClick r:id="rId6" action="ppaction://hlinksldjump"/>
              </a:rPr>
              <a:t>Generation)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November</a:t>
            </a:r>
            <a:r>
              <a:rPr spc="-25" dirty="0"/>
              <a:t> </a:t>
            </a:r>
            <a:r>
              <a:rPr dirty="0"/>
              <a:t>9,</a:t>
            </a:r>
            <a:r>
              <a:rPr spc="-20" dirty="0"/>
              <a:t> 2025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3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50" dirty="0"/>
              <a:t>9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1653539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How</a:t>
            </a:r>
            <a:r>
              <a:rPr spc="5" dirty="0"/>
              <a:t> </a:t>
            </a:r>
            <a:r>
              <a:rPr dirty="0"/>
              <a:t>4G</a:t>
            </a:r>
            <a:r>
              <a:rPr spc="10" dirty="0"/>
              <a:t> </a:t>
            </a:r>
            <a:r>
              <a:rPr dirty="0"/>
              <a:t>(LTE)</a:t>
            </a:r>
            <a:r>
              <a:rPr spc="5" dirty="0"/>
              <a:t> </a:t>
            </a:r>
            <a:r>
              <a:rPr spc="-25" dirty="0"/>
              <a:t>Works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64577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881124"/>
            <a:ext cx="5229860" cy="15106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269240">
              <a:lnSpc>
                <a:spcPct val="102600"/>
              </a:lnSpc>
              <a:spcBef>
                <a:spcPts val="55"/>
              </a:spcBef>
            </a:pPr>
            <a:r>
              <a:rPr sz="1100" spc="-125" dirty="0">
                <a:latin typeface="Arial Black"/>
                <a:cs typeface="Arial Black"/>
              </a:rPr>
              <a:t>Orthogonal</a:t>
            </a:r>
            <a:r>
              <a:rPr sz="1100" spc="30" dirty="0">
                <a:latin typeface="Arial Black"/>
                <a:cs typeface="Arial Black"/>
              </a:rPr>
              <a:t> </a:t>
            </a:r>
            <a:r>
              <a:rPr sz="1100" spc="-150" dirty="0">
                <a:latin typeface="Arial Black"/>
                <a:cs typeface="Arial Black"/>
              </a:rPr>
              <a:t>Frequency</a:t>
            </a:r>
            <a:r>
              <a:rPr sz="1100" spc="35" dirty="0">
                <a:latin typeface="Arial Black"/>
                <a:cs typeface="Arial Black"/>
              </a:rPr>
              <a:t> </a:t>
            </a:r>
            <a:r>
              <a:rPr sz="1100" spc="-110" dirty="0">
                <a:latin typeface="Arial Black"/>
                <a:cs typeface="Arial Black"/>
              </a:rPr>
              <a:t>Division</a:t>
            </a:r>
            <a:r>
              <a:rPr sz="1100" spc="30" dirty="0">
                <a:latin typeface="Arial Black"/>
                <a:cs typeface="Arial Black"/>
              </a:rPr>
              <a:t> </a:t>
            </a:r>
            <a:r>
              <a:rPr sz="1100" spc="-95" dirty="0">
                <a:latin typeface="Arial Black"/>
                <a:cs typeface="Arial Black"/>
              </a:rPr>
              <a:t>Multiple</a:t>
            </a:r>
            <a:r>
              <a:rPr sz="1100" spc="35" dirty="0">
                <a:latin typeface="Arial Black"/>
                <a:cs typeface="Arial Black"/>
              </a:rPr>
              <a:t> </a:t>
            </a:r>
            <a:r>
              <a:rPr sz="1100" spc="-195" dirty="0">
                <a:latin typeface="Arial Black"/>
                <a:cs typeface="Arial Black"/>
              </a:rPr>
              <a:t>Access</a:t>
            </a:r>
            <a:r>
              <a:rPr sz="1100" spc="30" dirty="0">
                <a:latin typeface="Arial Black"/>
                <a:cs typeface="Arial Black"/>
              </a:rPr>
              <a:t> </a:t>
            </a:r>
            <a:r>
              <a:rPr sz="1100" spc="-10" dirty="0">
                <a:latin typeface="Arial Black"/>
                <a:cs typeface="Arial Black"/>
              </a:rPr>
              <a:t>(OFDMA):</a:t>
            </a:r>
            <a:r>
              <a:rPr sz="1100" dirty="0">
                <a:latin typeface="Arial Black"/>
                <a:cs typeface="Arial Black"/>
              </a:rPr>
              <a:t> </a:t>
            </a:r>
            <a:r>
              <a:rPr sz="1100" spc="-10" dirty="0">
                <a:latin typeface="Tahoma"/>
                <a:cs typeface="Tahoma"/>
              </a:rPr>
              <a:t>splits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spectrum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into </a:t>
            </a:r>
            <a:r>
              <a:rPr sz="1100" spc="-45" dirty="0">
                <a:latin typeface="Tahoma"/>
                <a:cs typeface="Tahoma"/>
              </a:rPr>
              <a:t>many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narrow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subcarriers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improve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robustness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and</a:t>
            </a:r>
            <a:r>
              <a:rPr sz="1100" spc="-10" dirty="0">
                <a:latin typeface="Tahoma"/>
                <a:cs typeface="Tahoma"/>
              </a:rPr>
              <a:t> throughput.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z="1100" spc="-95" dirty="0">
                <a:latin typeface="Arial Black"/>
                <a:cs typeface="Arial Black"/>
              </a:rPr>
              <a:t>Multiple</a:t>
            </a:r>
            <a:r>
              <a:rPr sz="1100" dirty="0">
                <a:latin typeface="Arial Black"/>
                <a:cs typeface="Arial Black"/>
              </a:rPr>
              <a:t> </a:t>
            </a:r>
            <a:r>
              <a:rPr sz="1100" spc="-100" dirty="0">
                <a:latin typeface="Arial Black"/>
                <a:cs typeface="Arial Black"/>
              </a:rPr>
              <a:t>Input</a:t>
            </a:r>
            <a:r>
              <a:rPr sz="1100" spc="10" dirty="0">
                <a:latin typeface="Arial Black"/>
                <a:cs typeface="Arial Black"/>
              </a:rPr>
              <a:t> </a:t>
            </a:r>
            <a:r>
              <a:rPr sz="1100" spc="-95" dirty="0">
                <a:latin typeface="Arial Black"/>
                <a:cs typeface="Arial Black"/>
              </a:rPr>
              <a:t>Multiple</a:t>
            </a:r>
            <a:r>
              <a:rPr sz="1100" spc="5" dirty="0">
                <a:latin typeface="Arial Black"/>
                <a:cs typeface="Arial Black"/>
              </a:rPr>
              <a:t> </a:t>
            </a:r>
            <a:r>
              <a:rPr sz="1100" spc="-85" dirty="0">
                <a:latin typeface="Arial Black"/>
                <a:cs typeface="Arial Black"/>
              </a:rPr>
              <a:t>Output</a:t>
            </a:r>
            <a:r>
              <a:rPr sz="1100" spc="-5" dirty="0">
                <a:latin typeface="Arial Black"/>
                <a:cs typeface="Arial Black"/>
              </a:rPr>
              <a:t> </a:t>
            </a:r>
            <a:r>
              <a:rPr sz="1100" dirty="0">
                <a:latin typeface="Arial Black"/>
                <a:cs typeface="Arial Black"/>
              </a:rPr>
              <a:t>(MIMO):</a:t>
            </a:r>
            <a:r>
              <a:rPr sz="1100" spc="-35" dirty="0">
                <a:latin typeface="Arial Black"/>
                <a:cs typeface="Arial Black"/>
              </a:rPr>
              <a:t> </a:t>
            </a:r>
            <a:r>
              <a:rPr sz="1100" spc="-60" dirty="0">
                <a:latin typeface="Tahoma"/>
                <a:cs typeface="Tahoma"/>
              </a:rPr>
              <a:t>uses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multiple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antennas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better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r>
              <a:rPr sz="1100" spc="-10" dirty="0">
                <a:latin typeface="Tahoma"/>
                <a:cs typeface="Tahoma"/>
              </a:rPr>
              <a:t> rates </a:t>
            </a:r>
            <a:r>
              <a:rPr sz="1100" spc="-40" dirty="0">
                <a:latin typeface="Tahoma"/>
                <a:cs typeface="Tahoma"/>
              </a:rPr>
              <a:t>and </a:t>
            </a:r>
            <a:r>
              <a:rPr sz="1100" spc="-10" dirty="0">
                <a:latin typeface="Tahoma"/>
                <a:cs typeface="Tahoma"/>
              </a:rPr>
              <a:t>reliability.</a:t>
            </a:r>
            <a:endParaRPr sz="1100">
              <a:latin typeface="Tahoma"/>
              <a:cs typeface="Tahoma"/>
            </a:endParaRPr>
          </a:p>
          <a:p>
            <a:pPr marL="12700" marR="172720">
              <a:lnSpc>
                <a:spcPct val="102699"/>
              </a:lnSpc>
              <a:spcBef>
                <a:spcPts val="300"/>
              </a:spcBef>
            </a:pPr>
            <a:r>
              <a:rPr sz="1100" spc="-114" dirty="0">
                <a:latin typeface="Arial Black"/>
                <a:cs typeface="Arial Black"/>
              </a:rPr>
              <a:t>Architecture:</a:t>
            </a:r>
            <a:r>
              <a:rPr sz="1100" spc="60" dirty="0">
                <a:latin typeface="Arial Black"/>
                <a:cs typeface="Arial Black"/>
              </a:rPr>
              <a:t> </a:t>
            </a:r>
            <a:r>
              <a:rPr sz="1100" spc="-30" dirty="0">
                <a:latin typeface="Tahoma"/>
                <a:cs typeface="Tahoma"/>
              </a:rPr>
              <a:t>User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Equipment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(UE)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→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Evolved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Node </a:t>
            </a:r>
            <a:r>
              <a:rPr sz="1100" spc="70" dirty="0">
                <a:latin typeface="Tahoma"/>
                <a:cs typeface="Tahoma"/>
              </a:rPr>
              <a:t>B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(eNodeB)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→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Evolved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Packet </a:t>
            </a:r>
            <a:r>
              <a:rPr sz="1100" spc="-35" dirty="0">
                <a:latin typeface="Tahoma"/>
                <a:cs typeface="Tahoma"/>
              </a:rPr>
              <a:t>Core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(EPC)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→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Internet.</a:t>
            </a:r>
            <a:endParaRPr sz="1100">
              <a:latin typeface="Tahoma"/>
              <a:cs typeface="Tahoma"/>
            </a:endParaRPr>
          </a:p>
          <a:p>
            <a:pPr marL="12700" marR="323215">
              <a:lnSpc>
                <a:spcPct val="102600"/>
              </a:lnSpc>
              <a:spcBef>
                <a:spcPts val="295"/>
              </a:spcBef>
            </a:pPr>
            <a:r>
              <a:rPr sz="1100" spc="-20" dirty="0">
                <a:latin typeface="Tahoma"/>
                <a:cs typeface="Tahoma"/>
              </a:rPr>
              <a:t>Limitations: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congestion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dense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areas;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less</a:t>
            </a:r>
            <a:r>
              <a:rPr sz="1100" spc="-30" dirty="0">
                <a:latin typeface="Tahoma"/>
                <a:cs typeface="Tahoma"/>
              </a:rPr>
              <a:t> optimized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massive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Internet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Things </a:t>
            </a:r>
            <a:r>
              <a:rPr sz="1100" dirty="0">
                <a:latin typeface="Tahoma"/>
                <a:cs typeface="Tahoma"/>
              </a:rPr>
              <a:t>(IoT)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devices.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46682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28787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110892"/>
            <a:ext cx="65265" cy="65265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Md.</a:t>
            </a:r>
            <a:r>
              <a:rPr spc="110" dirty="0"/>
              <a:t> </a:t>
            </a:r>
            <a:r>
              <a:rPr dirty="0"/>
              <a:t>Ashikujjaman</a:t>
            </a:r>
            <a:r>
              <a:rPr spc="35" dirty="0"/>
              <a:t> </a:t>
            </a:r>
            <a:r>
              <a:rPr dirty="0"/>
              <a:t>Nur</a:t>
            </a:r>
            <a:r>
              <a:rPr spc="35" dirty="0"/>
              <a:t> </a:t>
            </a:r>
            <a:r>
              <a:rPr dirty="0"/>
              <a:t>(IT-</a:t>
            </a:r>
            <a:r>
              <a:rPr spc="-10" dirty="0"/>
              <a:t>21013)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963445" y="3105948"/>
            <a:ext cx="183324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latin typeface="Tahoma"/>
                <a:cs typeface="Tahoma"/>
                <a:hlinkClick r:id="rId6" action="ppaction://hlinksldjump"/>
              </a:rPr>
              <a:t>4G</a:t>
            </a:r>
            <a:r>
              <a:rPr sz="600" spc="40" dirty="0"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6" action="ppaction://hlinksldjump"/>
              </a:rPr>
              <a:t>(Long</a:t>
            </a:r>
            <a:r>
              <a:rPr sz="600" spc="40" dirty="0"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6" action="ppaction://hlinksldjump"/>
              </a:rPr>
              <a:t>Term</a:t>
            </a:r>
            <a:r>
              <a:rPr sz="600" spc="45" dirty="0"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6" action="ppaction://hlinksldjump"/>
              </a:rPr>
              <a:t>Evolution)</a:t>
            </a:r>
            <a:r>
              <a:rPr sz="600" spc="40" dirty="0"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6" action="ppaction://hlinksldjump"/>
              </a:rPr>
              <a:t>and</a:t>
            </a:r>
            <a:r>
              <a:rPr sz="600" spc="45" dirty="0"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6" action="ppaction://hlinksldjump"/>
              </a:rPr>
              <a:t>5G</a:t>
            </a:r>
            <a:r>
              <a:rPr sz="600" spc="40" dirty="0"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6" action="ppaction://hlinksldjump"/>
              </a:rPr>
              <a:t>(Fifth</a:t>
            </a:r>
            <a:r>
              <a:rPr sz="600" spc="45" dirty="0"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spc="-10" dirty="0">
                <a:latin typeface="Tahoma"/>
                <a:cs typeface="Tahoma"/>
                <a:hlinkClick r:id="rId6" action="ppaction://hlinksldjump"/>
              </a:rPr>
              <a:t>Generation)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November</a:t>
            </a:r>
            <a:r>
              <a:rPr spc="-25" dirty="0"/>
              <a:t> </a:t>
            </a:r>
            <a:r>
              <a:rPr dirty="0"/>
              <a:t>9,</a:t>
            </a:r>
            <a:r>
              <a:rPr spc="-20" dirty="0"/>
              <a:t> 2025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4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50" dirty="0"/>
              <a:t>9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5G</a:t>
            </a:r>
            <a:r>
              <a:rPr spc="-35" dirty="0"/>
              <a:t> </a:t>
            </a:r>
            <a:r>
              <a:rPr dirty="0"/>
              <a:t>(Fifth</a:t>
            </a:r>
            <a:r>
              <a:rPr spc="-30" dirty="0"/>
              <a:t> </a:t>
            </a:r>
            <a:r>
              <a:rPr spc="-35" dirty="0"/>
              <a:t>Generation):</a:t>
            </a:r>
            <a:r>
              <a:rPr spc="110" dirty="0"/>
              <a:t> </a:t>
            </a:r>
            <a:r>
              <a:rPr spc="-55" dirty="0"/>
              <a:t>Designed</a:t>
            </a:r>
            <a:r>
              <a:rPr spc="-30" dirty="0"/>
              <a:t> </a:t>
            </a:r>
            <a:r>
              <a:rPr spc="-20" dirty="0"/>
              <a:t>for</a:t>
            </a:r>
            <a:r>
              <a:rPr spc="-25" dirty="0"/>
              <a:t> </a:t>
            </a:r>
            <a:r>
              <a:rPr dirty="0"/>
              <a:t>a</a:t>
            </a:r>
            <a:r>
              <a:rPr spc="-35" dirty="0"/>
              <a:t> Connected</a:t>
            </a:r>
            <a:r>
              <a:rPr spc="-25" dirty="0"/>
              <a:t> </a:t>
            </a:r>
            <a:r>
              <a:rPr spc="-10" dirty="0"/>
              <a:t>World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797547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670316"/>
            <a:ext cx="2670810" cy="20701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34"/>
              </a:spcBef>
            </a:pPr>
            <a:r>
              <a:rPr sz="1100" spc="-114" dirty="0">
                <a:latin typeface="Arial Black"/>
                <a:cs typeface="Arial Black"/>
              </a:rPr>
              <a:t>Speed:</a:t>
            </a:r>
            <a:r>
              <a:rPr sz="1100" spc="40" dirty="0">
                <a:latin typeface="Arial Black"/>
                <a:cs typeface="Arial Black"/>
              </a:rPr>
              <a:t> </a:t>
            </a:r>
            <a:r>
              <a:rPr sz="1100" spc="-10" dirty="0">
                <a:latin typeface="Tahoma"/>
                <a:cs typeface="Tahoma"/>
              </a:rPr>
              <a:t>up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10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Gigabits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second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(Gbps).</a:t>
            </a:r>
            <a:endParaRPr sz="1100">
              <a:latin typeface="Tahoma"/>
              <a:cs typeface="Tahoma"/>
            </a:endParaRPr>
          </a:p>
          <a:p>
            <a:pPr marL="12700" marR="130175" algn="just">
              <a:lnSpc>
                <a:spcPct val="102600"/>
              </a:lnSpc>
              <a:spcBef>
                <a:spcPts val="300"/>
              </a:spcBef>
            </a:pPr>
            <a:r>
              <a:rPr sz="1100" spc="-125" dirty="0">
                <a:latin typeface="Arial Black"/>
                <a:cs typeface="Arial Black"/>
              </a:rPr>
              <a:t>Latency:</a:t>
            </a:r>
            <a:r>
              <a:rPr sz="1100" spc="50" dirty="0">
                <a:latin typeface="Arial Black"/>
                <a:cs typeface="Arial Black"/>
              </a:rPr>
              <a:t> </a:t>
            </a:r>
            <a:r>
              <a:rPr sz="1100" spc="-50" dirty="0">
                <a:latin typeface="Tahoma"/>
                <a:cs typeface="Tahoma"/>
              </a:rPr>
              <a:t>less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10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milliseconds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(ms)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 </a:t>
            </a:r>
            <a:r>
              <a:rPr sz="1100" spc="-30" dirty="0">
                <a:latin typeface="Tahoma"/>
                <a:cs typeface="Tahoma"/>
              </a:rPr>
              <a:t>Ultra-</a:t>
            </a:r>
            <a:r>
              <a:rPr sz="1100" spc="-20" dirty="0">
                <a:latin typeface="Tahoma"/>
                <a:cs typeface="Tahoma"/>
              </a:rPr>
              <a:t>Reliable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Low-</a:t>
            </a:r>
            <a:r>
              <a:rPr sz="1100" spc="-30" dirty="0">
                <a:latin typeface="Tahoma"/>
                <a:cs typeface="Tahoma"/>
              </a:rPr>
              <a:t>Latency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Communication </a:t>
            </a:r>
            <a:r>
              <a:rPr sz="1100" dirty="0">
                <a:latin typeface="Tahoma"/>
                <a:cs typeface="Tahoma"/>
              </a:rPr>
              <a:t>(URLLC)</a:t>
            </a:r>
            <a:r>
              <a:rPr sz="1100" spc="10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scenarios.</a:t>
            </a:r>
            <a:endParaRPr sz="1100">
              <a:latin typeface="Tahoma"/>
              <a:cs typeface="Tahoma"/>
            </a:endParaRPr>
          </a:p>
          <a:p>
            <a:pPr marL="12700" marR="127000" algn="just">
              <a:lnSpc>
                <a:spcPct val="102699"/>
              </a:lnSpc>
              <a:spcBef>
                <a:spcPts val="295"/>
              </a:spcBef>
            </a:pPr>
            <a:r>
              <a:rPr sz="1100" spc="-114" dirty="0">
                <a:latin typeface="Arial Black"/>
                <a:cs typeface="Arial Black"/>
              </a:rPr>
              <a:t>Capacity:</a:t>
            </a:r>
            <a:r>
              <a:rPr sz="1100" spc="45" dirty="0">
                <a:latin typeface="Arial Black"/>
                <a:cs typeface="Arial Black"/>
              </a:rPr>
              <a:t> </a:t>
            </a:r>
            <a:r>
              <a:rPr sz="1100" spc="-10" dirty="0">
                <a:latin typeface="Tahoma"/>
                <a:cs typeface="Tahoma"/>
              </a:rPr>
              <a:t>up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100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times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more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connected devices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square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kilometer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4G.</a:t>
            </a:r>
            <a:endParaRPr sz="1100">
              <a:latin typeface="Tahoma"/>
              <a:cs typeface="Tahoma"/>
            </a:endParaRPr>
          </a:p>
          <a:p>
            <a:pPr marL="12700" marR="290195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Built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spc="-155" dirty="0">
                <a:latin typeface="Arial Black"/>
                <a:cs typeface="Arial Black"/>
              </a:rPr>
              <a:t>Enhanced</a:t>
            </a:r>
            <a:r>
              <a:rPr sz="1100" spc="30" dirty="0">
                <a:latin typeface="Arial Black"/>
                <a:cs typeface="Arial Black"/>
              </a:rPr>
              <a:t> </a:t>
            </a:r>
            <a:r>
              <a:rPr sz="1100" spc="-100" dirty="0">
                <a:latin typeface="Arial Black"/>
                <a:cs typeface="Arial Black"/>
              </a:rPr>
              <a:t>Mobile</a:t>
            </a:r>
            <a:r>
              <a:rPr sz="1100" spc="35" dirty="0">
                <a:latin typeface="Arial Black"/>
                <a:cs typeface="Arial Black"/>
              </a:rPr>
              <a:t> </a:t>
            </a:r>
            <a:r>
              <a:rPr sz="1100" spc="-125" dirty="0">
                <a:latin typeface="Arial Black"/>
                <a:cs typeface="Arial Black"/>
              </a:rPr>
              <a:t>Broadband </a:t>
            </a:r>
            <a:r>
              <a:rPr sz="1100" spc="-25" dirty="0">
                <a:latin typeface="Arial Black"/>
                <a:cs typeface="Arial Black"/>
              </a:rPr>
              <a:t>(eMBB)</a:t>
            </a:r>
            <a:r>
              <a:rPr sz="1100" spc="-25" dirty="0">
                <a:latin typeface="Tahoma"/>
                <a:cs typeface="Tahoma"/>
              </a:rPr>
              <a:t>,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145" dirty="0">
                <a:latin typeface="Arial Black"/>
                <a:cs typeface="Arial Black"/>
              </a:rPr>
              <a:t>Massive</a:t>
            </a:r>
            <a:r>
              <a:rPr sz="1100" spc="45" dirty="0">
                <a:latin typeface="Arial Black"/>
                <a:cs typeface="Arial Black"/>
              </a:rPr>
              <a:t> </a:t>
            </a:r>
            <a:r>
              <a:rPr sz="1100" spc="-110" dirty="0">
                <a:latin typeface="Arial Black"/>
                <a:cs typeface="Arial Black"/>
              </a:rPr>
              <a:t>Machine-</a:t>
            </a:r>
            <a:r>
              <a:rPr sz="1100" spc="-20" dirty="0">
                <a:latin typeface="Arial Black"/>
                <a:cs typeface="Arial Black"/>
              </a:rPr>
              <a:t>Type </a:t>
            </a:r>
            <a:r>
              <a:rPr sz="1100" spc="-140" dirty="0">
                <a:latin typeface="Arial Black"/>
                <a:cs typeface="Arial Black"/>
              </a:rPr>
              <a:t>Communication</a:t>
            </a:r>
            <a:r>
              <a:rPr sz="1100" spc="55" dirty="0">
                <a:latin typeface="Arial Black"/>
                <a:cs typeface="Arial Black"/>
              </a:rPr>
              <a:t> </a:t>
            </a:r>
            <a:r>
              <a:rPr sz="1100" spc="-20" dirty="0">
                <a:latin typeface="Arial Black"/>
                <a:cs typeface="Arial Black"/>
              </a:rPr>
              <a:t>(mMTC)</a:t>
            </a:r>
            <a:r>
              <a:rPr sz="1100" spc="-20" dirty="0">
                <a:latin typeface="Tahoma"/>
                <a:cs typeface="Tahoma"/>
              </a:rPr>
              <a:t>,</a:t>
            </a:r>
            <a:r>
              <a:rPr sz="1100" spc="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and</a:t>
            </a:r>
            <a:endParaRPr sz="1100">
              <a:latin typeface="Tahoma"/>
              <a:cs typeface="Tahoma"/>
            </a:endParaRPr>
          </a:p>
          <a:p>
            <a:pPr marL="12700" marR="929005">
              <a:lnSpc>
                <a:spcPct val="102600"/>
              </a:lnSpc>
            </a:pPr>
            <a:r>
              <a:rPr sz="1100" spc="-110" dirty="0">
                <a:latin typeface="Arial Black"/>
                <a:cs typeface="Arial Black"/>
              </a:rPr>
              <a:t>Ultra-</a:t>
            </a:r>
            <a:r>
              <a:rPr sz="1100" spc="-114" dirty="0">
                <a:latin typeface="Arial Black"/>
                <a:cs typeface="Arial Black"/>
              </a:rPr>
              <a:t>Reliable</a:t>
            </a:r>
            <a:r>
              <a:rPr sz="1100" spc="155" dirty="0">
                <a:latin typeface="Arial Black"/>
                <a:cs typeface="Arial Black"/>
              </a:rPr>
              <a:t> </a:t>
            </a:r>
            <a:r>
              <a:rPr sz="1100" spc="-145" dirty="0">
                <a:latin typeface="Arial Black"/>
                <a:cs typeface="Arial Black"/>
              </a:rPr>
              <a:t>Low-</a:t>
            </a:r>
            <a:r>
              <a:rPr sz="1100" spc="-125" dirty="0">
                <a:latin typeface="Arial Black"/>
                <a:cs typeface="Arial Black"/>
              </a:rPr>
              <a:t>Latency </a:t>
            </a:r>
            <a:r>
              <a:rPr sz="1100" spc="-140" dirty="0">
                <a:latin typeface="Arial Black"/>
                <a:cs typeface="Arial Black"/>
              </a:rPr>
              <a:t>Communication</a:t>
            </a:r>
            <a:r>
              <a:rPr sz="1100" spc="150" dirty="0">
                <a:latin typeface="Arial Black"/>
                <a:cs typeface="Arial Black"/>
              </a:rPr>
              <a:t> </a:t>
            </a:r>
            <a:r>
              <a:rPr sz="1100" spc="-10" dirty="0">
                <a:latin typeface="Arial Black"/>
                <a:cs typeface="Arial Black"/>
              </a:rPr>
              <a:t>(URLLC)</a:t>
            </a:r>
            <a:r>
              <a:rPr sz="1100" spc="-1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007579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561756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943861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32577" y="725338"/>
            <a:ext cx="1929949" cy="117726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187636" y="1416051"/>
            <a:ext cx="1901189" cy="46863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R="316230" algn="ctr">
              <a:lnSpc>
                <a:spcPct val="100000"/>
              </a:lnSpc>
              <a:spcBef>
                <a:spcPts val="605"/>
              </a:spcBef>
            </a:pPr>
            <a:r>
              <a:rPr sz="1100" spc="-25" dirty="0">
                <a:latin typeface="Tahoma"/>
                <a:cs typeface="Tahoma"/>
              </a:rPr>
              <a:t>))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464"/>
              </a:spcBef>
            </a:pPr>
            <a:r>
              <a:rPr sz="1000" dirty="0">
                <a:latin typeface="Tahoma"/>
                <a:cs typeface="Tahoma"/>
              </a:rPr>
              <a:t>Next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Generation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Node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75" dirty="0">
                <a:latin typeface="Tahoma"/>
                <a:cs typeface="Tahoma"/>
              </a:rPr>
              <a:t>B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(gNodeB)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86769" y="1033315"/>
            <a:ext cx="2717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Tahoma"/>
                <a:cs typeface="Tahoma"/>
              </a:rPr>
              <a:t>ECN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42445" y="1343944"/>
            <a:ext cx="210185" cy="4737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Tahoma"/>
                <a:cs typeface="Tahoma"/>
              </a:rPr>
              <a:t>Car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1000" spc="-25" dirty="0">
                <a:latin typeface="Tahoma"/>
                <a:cs typeface="Tahoma"/>
              </a:rPr>
              <a:t>IoT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87670" y="722698"/>
            <a:ext cx="1917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Tahoma"/>
                <a:cs typeface="Tahoma"/>
              </a:rPr>
              <a:t>VR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4" name="object 14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Md.</a:t>
            </a:r>
            <a:r>
              <a:rPr spc="110" dirty="0"/>
              <a:t> </a:t>
            </a:r>
            <a:r>
              <a:rPr dirty="0"/>
              <a:t>Ashikujjaman</a:t>
            </a:r>
            <a:r>
              <a:rPr spc="35" dirty="0"/>
              <a:t> </a:t>
            </a:r>
            <a:r>
              <a:rPr dirty="0"/>
              <a:t>Nur</a:t>
            </a:r>
            <a:r>
              <a:rPr spc="35" dirty="0"/>
              <a:t> </a:t>
            </a:r>
            <a:r>
              <a:rPr dirty="0"/>
              <a:t>(IT-</a:t>
            </a:r>
            <a:r>
              <a:rPr spc="-10" dirty="0"/>
              <a:t>21013)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963445" y="3105948"/>
            <a:ext cx="183324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latin typeface="Tahoma"/>
                <a:cs typeface="Tahoma"/>
                <a:hlinkClick r:id="rId7" action="ppaction://hlinksldjump"/>
              </a:rPr>
              <a:t>4G</a:t>
            </a:r>
            <a:r>
              <a:rPr sz="600" spc="40" dirty="0">
                <a:latin typeface="Tahoma"/>
                <a:cs typeface="Tahoma"/>
                <a:hlinkClick r:id="rId7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7" action="ppaction://hlinksldjump"/>
              </a:rPr>
              <a:t>(Long</a:t>
            </a:r>
            <a:r>
              <a:rPr sz="600" spc="40" dirty="0">
                <a:latin typeface="Tahoma"/>
                <a:cs typeface="Tahoma"/>
                <a:hlinkClick r:id="rId7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7" action="ppaction://hlinksldjump"/>
              </a:rPr>
              <a:t>Term</a:t>
            </a:r>
            <a:r>
              <a:rPr sz="600" spc="45" dirty="0">
                <a:latin typeface="Tahoma"/>
                <a:cs typeface="Tahoma"/>
                <a:hlinkClick r:id="rId7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7" action="ppaction://hlinksldjump"/>
              </a:rPr>
              <a:t>Evolution)</a:t>
            </a:r>
            <a:r>
              <a:rPr sz="600" spc="40" dirty="0">
                <a:latin typeface="Tahoma"/>
                <a:cs typeface="Tahoma"/>
                <a:hlinkClick r:id="rId7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7" action="ppaction://hlinksldjump"/>
              </a:rPr>
              <a:t>and</a:t>
            </a:r>
            <a:r>
              <a:rPr sz="600" spc="45" dirty="0">
                <a:latin typeface="Tahoma"/>
                <a:cs typeface="Tahoma"/>
                <a:hlinkClick r:id="rId7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7" action="ppaction://hlinksldjump"/>
              </a:rPr>
              <a:t>5G</a:t>
            </a:r>
            <a:r>
              <a:rPr sz="600" spc="40" dirty="0">
                <a:latin typeface="Tahoma"/>
                <a:cs typeface="Tahoma"/>
                <a:hlinkClick r:id="rId7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7" action="ppaction://hlinksldjump"/>
              </a:rPr>
              <a:t>(Fifth</a:t>
            </a:r>
            <a:r>
              <a:rPr sz="600" spc="45" dirty="0">
                <a:latin typeface="Tahoma"/>
                <a:cs typeface="Tahoma"/>
                <a:hlinkClick r:id="rId7" action="ppaction://hlinksldjump"/>
              </a:rPr>
              <a:t> </a:t>
            </a:r>
            <a:r>
              <a:rPr sz="600" spc="-10" dirty="0">
                <a:latin typeface="Tahoma"/>
                <a:cs typeface="Tahoma"/>
                <a:hlinkClick r:id="rId7" action="ppaction://hlinksldjump"/>
              </a:rPr>
              <a:t>Generation)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November</a:t>
            </a:r>
            <a:r>
              <a:rPr spc="-25" dirty="0"/>
              <a:t> </a:t>
            </a:r>
            <a:r>
              <a:rPr dirty="0"/>
              <a:t>9,</a:t>
            </a:r>
            <a:r>
              <a:rPr spc="-20" dirty="0"/>
              <a:t> 2025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5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50" dirty="0"/>
              <a:t>9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5G</a:t>
            </a:r>
            <a:r>
              <a:rPr spc="-40" dirty="0"/>
              <a:t> </a:t>
            </a:r>
            <a:r>
              <a:rPr dirty="0"/>
              <a:t>Key</a:t>
            </a:r>
            <a:r>
              <a:rPr spc="-35" dirty="0"/>
              <a:t> </a:t>
            </a:r>
            <a:r>
              <a:rPr spc="-50" dirty="0"/>
              <a:t>Technologies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05319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1361" rIns="0" bIns="0" rtlCol="0">
            <a:spAutoFit/>
          </a:bodyPr>
          <a:lstStyle/>
          <a:p>
            <a:pPr marL="12700" marR="66040">
              <a:lnSpc>
                <a:spcPct val="102600"/>
              </a:lnSpc>
              <a:spcBef>
                <a:spcPts val="55"/>
              </a:spcBef>
            </a:pPr>
            <a:r>
              <a:rPr spc="-100" dirty="0">
                <a:latin typeface="Arial Black"/>
                <a:cs typeface="Arial Black"/>
              </a:rPr>
              <a:t>Millimeter</a:t>
            </a:r>
            <a:r>
              <a:rPr spc="5" dirty="0">
                <a:latin typeface="Arial Black"/>
                <a:cs typeface="Arial Black"/>
              </a:rPr>
              <a:t> </a:t>
            </a:r>
            <a:r>
              <a:rPr spc="-125" dirty="0">
                <a:latin typeface="Arial Black"/>
                <a:cs typeface="Arial Black"/>
              </a:rPr>
              <a:t>Wave</a:t>
            </a:r>
            <a:r>
              <a:rPr spc="30" dirty="0">
                <a:latin typeface="Arial Black"/>
                <a:cs typeface="Arial Black"/>
              </a:rPr>
              <a:t> </a:t>
            </a:r>
            <a:r>
              <a:rPr spc="-100" dirty="0">
                <a:latin typeface="Arial Black"/>
                <a:cs typeface="Arial Black"/>
              </a:rPr>
              <a:t>(mmWave)</a:t>
            </a:r>
            <a:r>
              <a:rPr spc="10" dirty="0">
                <a:latin typeface="Arial Black"/>
                <a:cs typeface="Arial Black"/>
              </a:rPr>
              <a:t> </a:t>
            </a:r>
            <a:r>
              <a:rPr spc="-120" dirty="0">
                <a:latin typeface="Arial Black"/>
                <a:cs typeface="Arial Black"/>
              </a:rPr>
              <a:t>Spectrum:</a:t>
            </a:r>
            <a:r>
              <a:rPr spc="65" dirty="0">
                <a:latin typeface="Arial Black"/>
                <a:cs typeface="Arial Black"/>
              </a:rPr>
              <a:t> </a:t>
            </a:r>
            <a:r>
              <a:rPr spc="-50" dirty="0"/>
              <a:t>provides</a:t>
            </a:r>
            <a:r>
              <a:rPr dirty="0"/>
              <a:t> </a:t>
            </a:r>
            <a:r>
              <a:rPr spc="-40" dirty="0"/>
              <a:t>ultra-</a:t>
            </a:r>
            <a:r>
              <a:rPr spc="-20" dirty="0"/>
              <a:t>high</a:t>
            </a:r>
            <a:r>
              <a:rPr spc="-5" dirty="0"/>
              <a:t> </a:t>
            </a:r>
            <a:r>
              <a:rPr spc="-20" dirty="0"/>
              <a:t>data</a:t>
            </a:r>
            <a:r>
              <a:rPr dirty="0"/>
              <a:t> </a:t>
            </a:r>
            <a:r>
              <a:rPr spc="-30" dirty="0"/>
              <a:t>rates</a:t>
            </a:r>
            <a:r>
              <a:rPr spc="-5" dirty="0"/>
              <a:t> </a:t>
            </a:r>
            <a:r>
              <a:rPr dirty="0"/>
              <a:t>but </a:t>
            </a:r>
            <a:r>
              <a:rPr spc="-10" dirty="0"/>
              <a:t>limited range.</a:t>
            </a: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pc="-145" dirty="0">
                <a:latin typeface="Arial Black"/>
                <a:cs typeface="Arial Black"/>
              </a:rPr>
              <a:t>Massive</a:t>
            </a:r>
            <a:r>
              <a:rPr spc="30" dirty="0">
                <a:latin typeface="Arial Black"/>
                <a:cs typeface="Arial Black"/>
              </a:rPr>
              <a:t> </a:t>
            </a:r>
            <a:r>
              <a:rPr spc="-95" dirty="0">
                <a:latin typeface="Arial Black"/>
                <a:cs typeface="Arial Black"/>
              </a:rPr>
              <a:t>Multiple</a:t>
            </a:r>
            <a:r>
              <a:rPr spc="5" dirty="0">
                <a:latin typeface="Arial Black"/>
                <a:cs typeface="Arial Black"/>
              </a:rPr>
              <a:t> </a:t>
            </a:r>
            <a:r>
              <a:rPr spc="-100" dirty="0">
                <a:latin typeface="Arial Black"/>
                <a:cs typeface="Arial Black"/>
              </a:rPr>
              <a:t>Input</a:t>
            </a:r>
            <a:r>
              <a:rPr spc="25" dirty="0">
                <a:latin typeface="Arial Black"/>
                <a:cs typeface="Arial Black"/>
              </a:rPr>
              <a:t> </a:t>
            </a:r>
            <a:r>
              <a:rPr spc="-95" dirty="0">
                <a:latin typeface="Arial Black"/>
                <a:cs typeface="Arial Black"/>
              </a:rPr>
              <a:t>Multiple</a:t>
            </a:r>
            <a:r>
              <a:rPr spc="20" dirty="0">
                <a:latin typeface="Arial Black"/>
                <a:cs typeface="Arial Black"/>
              </a:rPr>
              <a:t> </a:t>
            </a:r>
            <a:r>
              <a:rPr spc="-85" dirty="0">
                <a:latin typeface="Arial Black"/>
                <a:cs typeface="Arial Black"/>
              </a:rPr>
              <a:t>Output</a:t>
            </a:r>
            <a:r>
              <a:rPr spc="25" dirty="0">
                <a:latin typeface="Arial Black"/>
                <a:cs typeface="Arial Black"/>
              </a:rPr>
              <a:t> </a:t>
            </a:r>
            <a:r>
              <a:rPr spc="-125" dirty="0">
                <a:latin typeface="Arial Black"/>
                <a:cs typeface="Arial Black"/>
              </a:rPr>
              <a:t>(Massive</a:t>
            </a:r>
            <a:r>
              <a:rPr spc="30" dirty="0">
                <a:latin typeface="Arial Black"/>
                <a:cs typeface="Arial Black"/>
              </a:rPr>
              <a:t> </a:t>
            </a:r>
            <a:r>
              <a:rPr dirty="0">
                <a:latin typeface="Arial Black"/>
                <a:cs typeface="Arial Black"/>
              </a:rPr>
              <a:t>MIMO):</a:t>
            </a:r>
            <a:r>
              <a:rPr spc="-15" dirty="0">
                <a:latin typeface="Arial Black"/>
                <a:cs typeface="Arial Black"/>
              </a:rPr>
              <a:t> </a:t>
            </a:r>
            <a:r>
              <a:rPr spc="-55" dirty="0"/>
              <a:t>hundreds</a:t>
            </a:r>
            <a:r>
              <a:rPr spc="15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spc="-25" dirty="0"/>
              <a:t>antennas </a:t>
            </a:r>
            <a:r>
              <a:rPr spc="-45" dirty="0"/>
              <a:t>enable</a:t>
            </a:r>
            <a:r>
              <a:rPr spc="-30" dirty="0"/>
              <a:t> </a:t>
            </a:r>
            <a:r>
              <a:rPr spc="-50" dirty="0"/>
              <a:t>narrow,</a:t>
            </a:r>
            <a:r>
              <a:rPr spc="-25" dirty="0"/>
              <a:t> </a:t>
            </a:r>
            <a:r>
              <a:rPr spc="-30" dirty="0"/>
              <a:t>efficient </a:t>
            </a:r>
            <a:r>
              <a:rPr spc="-10" dirty="0"/>
              <a:t>beams.</a:t>
            </a: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pc="-150" dirty="0">
                <a:latin typeface="Arial Black"/>
                <a:cs typeface="Arial Black"/>
              </a:rPr>
              <a:t>Network</a:t>
            </a:r>
            <a:r>
              <a:rPr spc="30" dirty="0">
                <a:latin typeface="Arial Black"/>
                <a:cs typeface="Arial Black"/>
              </a:rPr>
              <a:t> </a:t>
            </a:r>
            <a:r>
              <a:rPr spc="-105" dirty="0">
                <a:latin typeface="Arial Black"/>
                <a:cs typeface="Arial Black"/>
              </a:rPr>
              <a:t>Slicing:</a:t>
            </a:r>
            <a:r>
              <a:rPr spc="30" dirty="0">
                <a:latin typeface="Arial Black"/>
                <a:cs typeface="Arial Black"/>
              </a:rPr>
              <a:t> </a:t>
            </a:r>
            <a:r>
              <a:rPr spc="-45" dirty="0"/>
              <a:t>creates</a:t>
            </a:r>
            <a:r>
              <a:rPr spc="-20" dirty="0"/>
              <a:t> multiple </a:t>
            </a:r>
            <a:r>
              <a:rPr spc="-10" dirty="0"/>
              <a:t>virtual</a:t>
            </a:r>
            <a:r>
              <a:rPr spc="-15" dirty="0"/>
              <a:t> </a:t>
            </a:r>
            <a:r>
              <a:rPr spc="-60" dirty="0"/>
              <a:t>networks</a:t>
            </a:r>
            <a:r>
              <a:rPr spc="-15" dirty="0"/>
              <a:t> </a:t>
            </a:r>
            <a:r>
              <a:rPr spc="-20" dirty="0"/>
              <a:t>for </a:t>
            </a:r>
            <a:r>
              <a:rPr spc="-35" dirty="0"/>
              <a:t>different</a:t>
            </a:r>
            <a:r>
              <a:rPr spc="-20" dirty="0"/>
              <a:t> </a:t>
            </a:r>
            <a:r>
              <a:rPr spc="-10" dirty="0"/>
              <a:t>services.</a:t>
            </a: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-150" dirty="0">
                <a:latin typeface="Arial Black"/>
                <a:cs typeface="Arial Black"/>
              </a:rPr>
              <a:t>Edge</a:t>
            </a:r>
            <a:r>
              <a:rPr spc="30" dirty="0">
                <a:latin typeface="Arial Black"/>
                <a:cs typeface="Arial Black"/>
              </a:rPr>
              <a:t> </a:t>
            </a:r>
            <a:r>
              <a:rPr spc="-105" dirty="0">
                <a:latin typeface="Arial Black"/>
                <a:cs typeface="Arial Black"/>
              </a:rPr>
              <a:t>Computing:</a:t>
            </a:r>
            <a:r>
              <a:rPr spc="10" dirty="0">
                <a:latin typeface="Arial Black"/>
                <a:cs typeface="Arial Black"/>
              </a:rPr>
              <a:t> </a:t>
            </a:r>
            <a:r>
              <a:rPr spc="-60" dirty="0"/>
              <a:t>processes</a:t>
            </a:r>
            <a:r>
              <a:rPr spc="-25" dirty="0"/>
              <a:t> </a:t>
            </a:r>
            <a:r>
              <a:rPr spc="-20" dirty="0"/>
              <a:t>data</a:t>
            </a:r>
            <a:r>
              <a:rPr spc="-40" dirty="0"/>
              <a:t> </a:t>
            </a:r>
            <a:r>
              <a:rPr spc="-35" dirty="0"/>
              <a:t>close</a:t>
            </a:r>
            <a:r>
              <a:rPr spc="-25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spc="-50" dirty="0"/>
              <a:t>users</a:t>
            </a:r>
            <a:r>
              <a:rPr spc="-25" dirty="0"/>
              <a:t> </a:t>
            </a:r>
            <a:r>
              <a:rPr spc="-20" dirty="0"/>
              <a:t>for</a:t>
            </a:r>
            <a:r>
              <a:rPr spc="-30" dirty="0"/>
              <a:t> </a:t>
            </a:r>
            <a:r>
              <a:rPr spc="-55" dirty="0"/>
              <a:t>reduced</a:t>
            </a:r>
            <a:r>
              <a:rPr spc="-35" dirty="0"/>
              <a:t> </a:t>
            </a:r>
            <a:r>
              <a:rPr spc="-10" dirty="0"/>
              <a:t>latency.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87423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869528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079561"/>
            <a:ext cx="65265" cy="65265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Md.</a:t>
            </a:r>
            <a:r>
              <a:rPr spc="110" dirty="0"/>
              <a:t> </a:t>
            </a:r>
            <a:r>
              <a:rPr dirty="0"/>
              <a:t>Ashikujjaman</a:t>
            </a:r>
            <a:r>
              <a:rPr spc="35" dirty="0"/>
              <a:t> </a:t>
            </a:r>
            <a:r>
              <a:rPr dirty="0"/>
              <a:t>Nur</a:t>
            </a:r>
            <a:r>
              <a:rPr spc="35" dirty="0"/>
              <a:t> </a:t>
            </a:r>
            <a:r>
              <a:rPr dirty="0"/>
              <a:t>(IT-</a:t>
            </a:r>
            <a:r>
              <a:rPr spc="-10" dirty="0"/>
              <a:t>21013)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963445" y="3105948"/>
            <a:ext cx="183324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latin typeface="Tahoma"/>
                <a:cs typeface="Tahoma"/>
                <a:hlinkClick r:id="rId6" action="ppaction://hlinksldjump"/>
              </a:rPr>
              <a:t>4G</a:t>
            </a:r>
            <a:r>
              <a:rPr sz="600" spc="40" dirty="0"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6" action="ppaction://hlinksldjump"/>
              </a:rPr>
              <a:t>(Long</a:t>
            </a:r>
            <a:r>
              <a:rPr sz="600" spc="40" dirty="0"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6" action="ppaction://hlinksldjump"/>
              </a:rPr>
              <a:t>Term</a:t>
            </a:r>
            <a:r>
              <a:rPr sz="600" spc="45" dirty="0"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6" action="ppaction://hlinksldjump"/>
              </a:rPr>
              <a:t>Evolution)</a:t>
            </a:r>
            <a:r>
              <a:rPr sz="600" spc="40" dirty="0"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6" action="ppaction://hlinksldjump"/>
              </a:rPr>
              <a:t>and</a:t>
            </a:r>
            <a:r>
              <a:rPr sz="600" spc="45" dirty="0"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6" action="ppaction://hlinksldjump"/>
              </a:rPr>
              <a:t>5G</a:t>
            </a:r>
            <a:r>
              <a:rPr sz="600" spc="40" dirty="0"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6" action="ppaction://hlinksldjump"/>
              </a:rPr>
              <a:t>(Fifth</a:t>
            </a:r>
            <a:r>
              <a:rPr sz="600" spc="45" dirty="0">
                <a:latin typeface="Tahoma"/>
                <a:cs typeface="Tahoma"/>
                <a:hlinkClick r:id="rId6" action="ppaction://hlinksldjump"/>
              </a:rPr>
              <a:t> </a:t>
            </a:r>
            <a:r>
              <a:rPr sz="600" spc="-10" dirty="0">
                <a:latin typeface="Tahoma"/>
                <a:cs typeface="Tahoma"/>
                <a:hlinkClick r:id="rId6" action="ppaction://hlinksldjump"/>
              </a:rPr>
              <a:t>Generation)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November</a:t>
            </a:r>
            <a:r>
              <a:rPr spc="-25" dirty="0"/>
              <a:t> </a:t>
            </a:r>
            <a:r>
              <a:rPr dirty="0"/>
              <a:t>9,</a:t>
            </a:r>
            <a:r>
              <a:rPr spc="-20" dirty="0"/>
              <a:t> 2025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6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50" dirty="0"/>
              <a:t>9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Applications</a:t>
            </a:r>
            <a:r>
              <a:rPr spc="-5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4G</a:t>
            </a:r>
            <a:r>
              <a:rPr spc="-50" dirty="0"/>
              <a:t> </a:t>
            </a:r>
            <a:r>
              <a:rPr spc="-30" dirty="0"/>
              <a:t>and</a:t>
            </a:r>
            <a:r>
              <a:rPr spc="-50" dirty="0"/>
              <a:t> </a:t>
            </a:r>
            <a:r>
              <a:rPr spc="-25" dirty="0"/>
              <a:t>5G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898969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088783"/>
            <a:ext cx="52590" cy="525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240612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392440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1569554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0865" y="1759368"/>
            <a:ext cx="52590" cy="525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0865" y="1911197"/>
            <a:ext cx="52590" cy="5259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0865" y="2063026"/>
            <a:ext cx="52590" cy="5259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70865" y="2214854"/>
            <a:ext cx="52590" cy="5259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70865" y="2366695"/>
            <a:ext cx="52590" cy="5259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02932" y="790434"/>
            <a:ext cx="4203065" cy="1669414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spc="-140" dirty="0">
                <a:latin typeface="Arial Black"/>
                <a:cs typeface="Arial Black"/>
              </a:rPr>
              <a:t>4G</a:t>
            </a:r>
            <a:r>
              <a:rPr sz="1100" spc="45" dirty="0">
                <a:latin typeface="Arial Black"/>
                <a:cs typeface="Arial Black"/>
              </a:rPr>
              <a:t> </a:t>
            </a:r>
            <a:r>
              <a:rPr sz="1100" spc="-10" dirty="0">
                <a:latin typeface="Arial Black"/>
                <a:cs typeface="Arial Black"/>
              </a:rPr>
              <a:t>(LTE):</a:t>
            </a:r>
            <a:endParaRPr sz="1100">
              <a:latin typeface="Arial Black"/>
              <a:cs typeface="Arial Black"/>
            </a:endParaRPr>
          </a:p>
          <a:p>
            <a:pPr marL="289560" marR="5080">
              <a:lnSpc>
                <a:spcPct val="100000"/>
              </a:lnSpc>
              <a:spcBef>
                <a:spcPts val="175"/>
              </a:spcBef>
            </a:pPr>
            <a:r>
              <a:rPr sz="1000" spc="-40" dirty="0">
                <a:latin typeface="Tahoma"/>
                <a:cs typeface="Tahoma"/>
              </a:rPr>
              <a:t>High-</a:t>
            </a:r>
            <a:r>
              <a:rPr sz="1000" spc="-50" dirty="0">
                <a:latin typeface="Tahoma"/>
                <a:cs typeface="Tahoma"/>
              </a:rPr>
              <a:t>speed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mobile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internet,</a:t>
            </a:r>
            <a:r>
              <a:rPr sz="1000" dirty="0">
                <a:latin typeface="Tahoma"/>
                <a:cs typeface="Tahoma"/>
              </a:rPr>
              <a:t> HD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streaming,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Voice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over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LTE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(VoLTE). </a:t>
            </a:r>
            <a:r>
              <a:rPr sz="1000" dirty="0">
                <a:latin typeface="Tahoma"/>
                <a:cs typeface="Tahoma"/>
              </a:rPr>
              <a:t>Mobile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hotspot</a:t>
            </a:r>
            <a:r>
              <a:rPr sz="1000" spc="-30" dirty="0">
                <a:latin typeface="Tahoma"/>
                <a:cs typeface="Tahoma"/>
              </a:rPr>
              <a:t> and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broadband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services.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90"/>
              </a:lnSpc>
            </a:pPr>
            <a:r>
              <a:rPr sz="1000" spc="-40" dirty="0">
                <a:latin typeface="Tahoma"/>
                <a:cs typeface="Tahoma"/>
              </a:rPr>
              <a:t>Internet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Things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(IoT)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using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LTE-</a:t>
            </a:r>
            <a:r>
              <a:rPr sz="1000" spc="60" dirty="0">
                <a:latin typeface="Tahoma"/>
                <a:cs typeface="Tahoma"/>
              </a:rPr>
              <a:t>M</a:t>
            </a:r>
            <a:r>
              <a:rPr sz="1000" spc="-25" dirty="0">
                <a:latin typeface="Tahoma"/>
                <a:cs typeface="Tahoma"/>
              </a:rPr>
              <a:t> and </a:t>
            </a:r>
            <a:r>
              <a:rPr sz="1000" spc="-40" dirty="0">
                <a:latin typeface="Tahoma"/>
                <a:cs typeface="Tahoma"/>
              </a:rPr>
              <a:t>Narrowband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IoT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(NB-IoT).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100" spc="-25" dirty="0">
                <a:latin typeface="Arial Black"/>
                <a:cs typeface="Arial Black"/>
              </a:rPr>
              <a:t>5G:</a:t>
            </a:r>
            <a:endParaRPr sz="1100">
              <a:latin typeface="Arial Black"/>
              <a:cs typeface="Arial Black"/>
            </a:endParaRPr>
          </a:p>
          <a:p>
            <a:pPr marL="289560" marR="1809114">
              <a:lnSpc>
                <a:spcPct val="100000"/>
              </a:lnSpc>
              <a:spcBef>
                <a:spcPts val="175"/>
              </a:spcBef>
            </a:pPr>
            <a:r>
              <a:rPr sz="1000" spc="-20" dirty="0">
                <a:latin typeface="Tahoma"/>
                <a:cs typeface="Tahoma"/>
              </a:rPr>
              <a:t>Smart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cities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Massive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IoT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(mMTC). </a:t>
            </a:r>
            <a:r>
              <a:rPr sz="1000" spc="-40" dirty="0">
                <a:latin typeface="Tahoma"/>
                <a:cs typeface="Tahoma"/>
              </a:rPr>
              <a:t>Connected</a:t>
            </a:r>
            <a:r>
              <a:rPr sz="1000" spc="-25" dirty="0">
                <a:latin typeface="Tahoma"/>
                <a:cs typeface="Tahoma"/>
              </a:rPr>
              <a:t> and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autonomous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vehicles.</a:t>
            </a:r>
            <a:endParaRPr sz="1000">
              <a:latin typeface="Tahoma"/>
              <a:cs typeface="Tahoma"/>
            </a:endParaRPr>
          </a:p>
          <a:p>
            <a:pPr marL="289560" marR="1518285">
              <a:lnSpc>
                <a:spcPts val="1200"/>
              </a:lnSpc>
              <a:spcBef>
                <a:spcPts val="30"/>
              </a:spcBef>
            </a:pPr>
            <a:r>
              <a:rPr sz="1000" spc="-30" dirty="0">
                <a:latin typeface="Tahoma"/>
                <a:cs typeface="Tahoma"/>
              </a:rPr>
              <a:t>Remote </a:t>
            </a:r>
            <a:r>
              <a:rPr sz="1000" spc="-40" dirty="0">
                <a:latin typeface="Tahoma"/>
                <a:cs typeface="Tahoma"/>
              </a:rPr>
              <a:t>healthcare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and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telesurgery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(URLLC). </a:t>
            </a:r>
            <a:r>
              <a:rPr sz="1000" spc="-40" dirty="0">
                <a:latin typeface="Tahoma"/>
                <a:cs typeface="Tahoma"/>
              </a:rPr>
              <a:t>Augmented </a:t>
            </a:r>
            <a:r>
              <a:rPr sz="1000" spc="-30" dirty="0">
                <a:latin typeface="Tahoma"/>
                <a:cs typeface="Tahoma"/>
              </a:rPr>
              <a:t>and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Virtual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Reality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(AR/VR).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50"/>
              </a:lnSpc>
            </a:pPr>
            <a:r>
              <a:rPr sz="1000" spc="-35" dirty="0">
                <a:latin typeface="Tahoma"/>
                <a:cs typeface="Tahoma"/>
              </a:rPr>
              <a:t>Industrial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automation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(Industry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4.0).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5" name="object 15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Md.</a:t>
            </a:r>
            <a:r>
              <a:rPr spc="110" dirty="0"/>
              <a:t> </a:t>
            </a:r>
            <a:r>
              <a:rPr dirty="0"/>
              <a:t>Ashikujjaman</a:t>
            </a:r>
            <a:r>
              <a:rPr spc="35" dirty="0"/>
              <a:t> </a:t>
            </a:r>
            <a:r>
              <a:rPr dirty="0"/>
              <a:t>Nur</a:t>
            </a:r>
            <a:r>
              <a:rPr spc="35" dirty="0"/>
              <a:t> </a:t>
            </a:r>
            <a:r>
              <a:rPr dirty="0"/>
              <a:t>(IT-</a:t>
            </a:r>
            <a:r>
              <a:rPr spc="-10" dirty="0"/>
              <a:t>21013)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963445" y="3105948"/>
            <a:ext cx="183324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latin typeface="Tahoma"/>
                <a:cs typeface="Tahoma"/>
                <a:hlinkClick r:id="rId12" action="ppaction://hlinksldjump"/>
              </a:rPr>
              <a:t>4G</a:t>
            </a:r>
            <a:r>
              <a:rPr sz="600" spc="40" dirty="0">
                <a:latin typeface="Tahoma"/>
                <a:cs typeface="Tahoma"/>
                <a:hlinkClick r:id="rId12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12" action="ppaction://hlinksldjump"/>
              </a:rPr>
              <a:t>(Long</a:t>
            </a:r>
            <a:r>
              <a:rPr sz="600" spc="40" dirty="0">
                <a:latin typeface="Tahoma"/>
                <a:cs typeface="Tahoma"/>
                <a:hlinkClick r:id="rId12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12" action="ppaction://hlinksldjump"/>
              </a:rPr>
              <a:t>Term</a:t>
            </a:r>
            <a:r>
              <a:rPr sz="600" spc="45" dirty="0">
                <a:latin typeface="Tahoma"/>
                <a:cs typeface="Tahoma"/>
                <a:hlinkClick r:id="rId12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12" action="ppaction://hlinksldjump"/>
              </a:rPr>
              <a:t>Evolution)</a:t>
            </a:r>
            <a:r>
              <a:rPr sz="600" spc="40" dirty="0">
                <a:latin typeface="Tahoma"/>
                <a:cs typeface="Tahoma"/>
                <a:hlinkClick r:id="rId12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12" action="ppaction://hlinksldjump"/>
              </a:rPr>
              <a:t>and</a:t>
            </a:r>
            <a:r>
              <a:rPr sz="600" spc="45" dirty="0">
                <a:latin typeface="Tahoma"/>
                <a:cs typeface="Tahoma"/>
                <a:hlinkClick r:id="rId12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12" action="ppaction://hlinksldjump"/>
              </a:rPr>
              <a:t>5G</a:t>
            </a:r>
            <a:r>
              <a:rPr sz="600" spc="40" dirty="0">
                <a:latin typeface="Tahoma"/>
                <a:cs typeface="Tahoma"/>
                <a:hlinkClick r:id="rId12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12" action="ppaction://hlinksldjump"/>
              </a:rPr>
              <a:t>(Fifth</a:t>
            </a:r>
            <a:r>
              <a:rPr sz="600" spc="45" dirty="0">
                <a:latin typeface="Tahoma"/>
                <a:cs typeface="Tahoma"/>
                <a:hlinkClick r:id="rId12" action="ppaction://hlinksldjump"/>
              </a:rPr>
              <a:t> </a:t>
            </a:r>
            <a:r>
              <a:rPr sz="600" spc="-10" dirty="0">
                <a:latin typeface="Tahoma"/>
                <a:cs typeface="Tahoma"/>
                <a:hlinkClick r:id="rId12" action="ppaction://hlinksldjump"/>
              </a:rPr>
              <a:t>Generation)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November</a:t>
            </a:r>
            <a:r>
              <a:rPr spc="-25" dirty="0"/>
              <a:t> </a:t>
            </a:r>
            <a:r>
              <a:rPr dirty="0"/>
              <a:t>9,</a:t>
            </a:r>
            <a:r>
              <a:rPr spc="-20" dirty="0"/>
              <a:t> 2025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7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50" dirty="0"/>
              <a:t>9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7"/>
            <a:ext cx="22301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45" dirty="0">
                <a:latin typeface="Tahoma"/>
                <a:cs typeface="Tahoma"/>
              </a:rPr>
              <a:t>Comparison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Among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1G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to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5G</a:t>
            </a:r>
            <a:endParaRPr sz="1400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8544" y="1075994"/>
          <a:ext cx="5647689" cy="9867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2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8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2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6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28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7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36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800" spc="-10" dirty="0">
                          <a:latin typeface="Arial Black"/>
                          <a:cs typeface="Arial Black"/>
                        </a:rPr>
                        <a:t>Feature</a:t>
                      </a:r>
                      <a:endParaRPr sz="800">
                        <a:latin typeface="Arial Black"/>
                        <a:cs typeface="Arial Black"/>
                      </a:endParaRPr>
                    </a:p>
                  </a:txBody>
                  <a:tcPr marL="0" marR="0" marT="2794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800" spc="-25" dirty="0">
                          <a:latin typeface="Arial Black"/>
                          <a:cs typeface="Arial Black"/>
                        </a:rPr>
                        <a:t>1G</a:t>
                      </a:r>
                      <a:endParaRPr sz="800">
                        <a:latin typeface="Arial Black"/>
                        <a:cs typeface="Arial Black"/>
                      </a:endParaRPr>
                    </a:p>
                  </a:txBody>
                  <a:tcPr marL="0" marR="0" marT="2794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800" spc="-25" dirty="0">
                          <a:latin typeface="Arial Black"/>
                          <a:cs typeface="Arial Black"/>
                        </a:rPr>
                        <a:t>2G</a:t>
                      </a:r>
                      <a:endParaRPr sz="800">
                        <a:latin typeface="Arial Black"/>
                        <a:cs typeface="Arial Black"/>
                      </a:endParaRPr>
                    </a:p>
                  </a:txBody>
                  <a:tcPr marL="0" marR="0" marT="2794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800" spc="-25" dirty="0">
                          <a:latin typeface="Arial Black"/>
                          <a:cs typeface="Arial Black"/>
                        </a:rPr>
                        <a:t>3G</a:t>
                      </a:r>
                      <a:endParaRPr sz="800">
                        <a:latin typeface="Arial Black"/>
                        <a:cs typeface="Arial Black"/>
                      </a:endParaRPr>
                    </a:p>
                  </a:txBody>
                  <a:tcPr marL="0" marR="0" marT="2794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800" spc="-90" dirty="0">
                          <a:latin typeface="Arial Black"/>
                          <a:cs typeface="Arial Black"/>
                        </a:rPr>
                        <a:t>4G</a:t>
                      </a:r>
                      <a:r>
                        <a:rPr sz="800" spc="2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800" spc="-10" dirty="0">
                          <a:latin typeface="Arial Black"/>
                          <a:cs typeface="Arial Black"/>
                        </a:rPr>
                        <a:t>(LTE)</a:t>
                      </a:r>
                      <a:endParaRPr sz="800">
                        <a:latin typeface="Arial Black"/>
                        <a:cs typeface="Arial Black"/>
                      </a:endParaRPr>
                    </a:p>
                  </a:txBody>
                  <a:tcPr marL="0" marR="0" marT="2794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800" spc="-25" dirty="0">
                          <a:latin typeface="Arial Black"/>
                          <a:cs typeface="Arial Black"/>
                        </a:rPr>
                        <a:t>5G</a:t>
                      </a:r>
                      <a:endParaRPr sz="800">
                        <a:latin typeface="Arial Black"/>
                        <a:cs typeface="Arial Black"/>
                      </a:endParaRPr>
                    </a:p>
                  </a:txBody>
                  <a:tcPr marL="0" marR="0" marT="2794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780">
                <a:tc>
                  <a:txBody>
                    <a:bodyPr/>
                    <a:lstStyle/>
                    <a:p>
                      <a:pPr>
                        <a:lnSpc>
                          <a:spcPts val="840"/>
                        </a:lnSpc>
                        <a:spcBef>
                          <a:spcPts val="204"/>
                        </a:spcBef>
                      </a:pPr>
                      <a:r>
                        <a:rPr sz="800" spc="-25" dirty="0">
                          <a:latin typeface="Arial Black"/>
                          <a:cs typeface="Arial Black"/>
                        </a:rPr>
                        <a:t>Era</a:t>
                      </a:r>
                      <a:endParaRPr sz="800">
                        <a:latin typeface="Arial Black"/>
                        <a:cs typeface="Arial Black"/>
                      </a:endParaRPr>
                    </a:p>
                  </a:txBody>
                  <a:tcPr marL="0" marR="0" marT="26034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40"/>
                        </a:lnSpc>
                        <a:spcBef>
                          <a:spcPts val="204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1980s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6034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840"/>
                        </a:lnSpc>
                        <a:spcBef>
                          <a:spcPts val="204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1990s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6034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840"/>
                        </a:lnSpc>
                        <a:spcBef>
                          <a:spcPts val="204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2000s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6034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840"/>
                        </a:lnSpc>
                        <a:spcBef>
                          <a:spcPts val="204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2010s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6034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840"/>
                        </a:lnSpc>
                        <a:spcBef>
                          <a:spcPts val="204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2020s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6034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014">
                <a:tc>
                  <a:txBody>
                    <a:bodyPr/>
                    <a:lstStyle/>
                    <a:p>
                      <a:pPr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800" spc="-10" dirty="0">
                          <a:latin typeface="Arial Black"/>
                          <a:cs typeface="Arial Black"/>
                        </a:rPr>
                        <a:t>Technology</a:t>
                      </a:r>
                      <a:endParaRPr sz="800">
                        <a:latin typeface="Arial Black"/>
                        <a:cs typeface="Arial Black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Analog</a:t>
                      </a:r>
                      <a:r>
                        <a:rPr sz="800" spc="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50" dirty="0">
                          <a:latin typeface="Tahoma"/>
                          <a:cs typeface="Tahoma"/>
                        </a:rPr>
                        <a:t>(FDMA)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Digital</a:t>
                      </a:r>
                      <a:r>
                        <a:rPr sz="800" spc="1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65" dirty="0">
                          <a:latin typeface="Tahoma"/>
                          <a:cs typeface="Tahoma"/>
                        </a:rPr>
                        <a:t>(TDMA/CDMA)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800" spc="45" dirty="0">
                          <a:latin typeface="Tahoma"/>
                          <a:cs typeface="Tahoma"/>
                        </a:rPr>
                        <a:t>WCDMA/CDMA2000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800" spc="65" dirty="0">
                          <a:latin typeface="Tahoma"/>
                          <a:cs typeface="Tahoma"/>
                        </a:rPr>
                        <a:t>OFDMA,</a:t>
                      </a:r>
                      <a:r>
                        <a:rPr sz="800" spc="35" dirty="0">
                          <a:latin typeface="Tahoma"/>
                          <a:cs typeface="Tahoma"/>
                        </a:rPr>
                        <a:t> MIMO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800" spc="70" dirty="0">
                          <a:latin typeface="Tahoma"/>
                          <a:cs typeface="Tahoma"/>
                        </a:rPr>
                        <a:t>OFDMA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014">
                <a:tc>
                  <a:txBody>
                    <a:bodyPr/>
                    <a:lstStyle/>
                    <a:p>
                      <a:pPr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800" spc="-10" dirty="0">
                          <a:latin typeface="Arial Black"/>
                          <a:cs typeface="Arial Black"/>
                        </a:rPr>
                        <a:t>Speed</a:t>
                      </a:r>
                      <a:endParaRPr sz="800">
                        <a:latin typeface="Arial Black"/>
                        <a:cs typeface="Arial Black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2.4</a:t>
                      </a:r>
                      <a:r>
                        <a:rPr sz="8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20" dirty="0">
                          <a:latin typeface="Tahoma"/>
                          <a:cs typeface="Tahoma"/>
                        </a:rPr>
                        <a:t>kbps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64–384</a:t>
                      </a:r>
                      <a:r>
                        <a:rPr sz="8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20" dirty="0">
                          <a:latin typeface="Tahoma"/>
                          <a:cs typeface="Tahoma"/>
                        </a:rPr>
                        <a:t>kbps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2–30</a:t>
                      </a:r>
                      <a:r>
                        <a:rPr sz="800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20" dirty="0">
                          <a:latin typeface="Tahoma"/>
                          <a:cs typeface="Tahoma"/>
                        </a:rPr>
                        <a:t>Mbps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100</a:t>
                      </a:r>
                      <a:r>
                        <a:rPr sz="800" spc="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latin typeface="Tahoma"/>
                          <a:cs typeface="Tahoma"/>
                        </a:rPr>
                        <a:t>Mbps–1</a:t>
                      </a:r>
                      <a:r>
                        <a:rPr sz="800" spc="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20" dirty="0">
                          <a:latin typeface="Tahoma"/>
                          <a:cs typeface="Tahoma"/>
                        </a:rPr>
                        <a:t>Gbps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1–10</a:t>
                      </a:r>
                      <a:r>
                        <a:rPr sz="800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25" dirty="0">
                          <a:latin typeface="Tahoma"/>
                          <a:cs typeface="Tahoma"/>
                        </a:rPr>
                        <a:t>Gb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0014">
                <a:tc>
                  <a:txBody>
                    <a:bodyPr/>
                    <a:lstStyle/>
                    <a:p>
                      <a:pPr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800" spc="-10" dirty="0">
                          <a:latin typeface="Arial Black"/>
                          <a:cs typeface="Arial Black"/>
                        </a:rPr>
                        <a:t>Latency</a:t>
                      </a:r>
                      <a:endParaRPr sz="800">
                        <a:latin typeface="Arial Black"/>
                        <a:cs typeface="Arial Black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500+</a:t>
                      </a:r>
                      <a:r>
                        <a:rPr sz="800" spc="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25" dirty="0">
                          <a:latin typeface="Tahoma"/>
                          <a:cs typeface="Tahoma"/>
                        </a:rPr>
                        <a:t>ms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300</a:t>
                      </a:r>
                      <a:r>
                        <a:rPr sz="800" spc="-25" dirty="0">
                          <a:latin typeface="Tahoma"/>
                          <a:cs typeface="Tahoma"/>
                        </a:rPr>
                        <a:t> ms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200</a:t>
                      </a:r>
                      <a:r>
                        <a:rPr sz="800" spc="-25" dirty="0">
                          <a:latin typeface="Tahoma"/>
                          <a:cs typeface="Tahoma"/>
                        </a:rPr>
                        <a:t> ms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50</a:t>
                      </a:r>
                      <a:r>
                        <a:rPr sz="8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25" dirty="0">
                          <a:latin typeface="Tahoma"/>
                          <a:cs typeface="Tahoma"/>
                        </a:rPr>
                        <a:t>ms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&lt;10</a:t>
                      </a:r>
                      <a:r>
                        <a:rPr sz="800" spc="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25" dirty="0">
                          <a:latin typeface="Tahoma"/>
                          <a:cs typeface="Tahoma"/>
                        </a:rPr>
                        <a:t>ms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0014">
                <a:tc>
                  <a:txBody>
                    <a:bodyPr/>
                    <a:lstStyle/>
                    <a:p>
                      <a:pPr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800" spc="-100" dirty="0">
                          <a:latin typeface="Arial Black"/>
                          <a:cs typeface="Arial Black"/>
                        </a:rPr>
                        <a:t>Core</a:t>
                      </a:r>
                      <a:r>
                        <a:rPr sz="800" spc="3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800" spc="-25" dirty="0">
                          <a:latin typeface="Arial Black"/>
                          <a:cs typeface="Arial Black"/>
                        </a:rPr>
                        <a:t>Network</a:t>
                      </a:r>
                      <a:endParaRPr sz="800">
                        <a:latin typeface="Arial Black"/>
                        <a:cs typeface="Arial Black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Circuit-switched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Circuit-switched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Packet</a:t>
                      </a:r>
                      <a:r>
                        <a:rPr sz="800" spc="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70" dirty="0">
                          <a:latin typeface="Tahoma"/>
                          <a:cs typeface="Tahoma"/>
                        </a:rPr>
                        <a:t>+</a:t>
                      </a:r>
                      <a:r>
                        <a:rPr sz="800" spc="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latin typeface="Tahoma"/>
                          <a:cs typeface="Tahoma"/>
                        </a:rPr>
                        <a:t>Circuit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All-IP</a:t>
                      </a:r>
                      <a:r>
                        <a:rPr sz="800" spc="1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40" dirty="0">
                          <a:latin typeface="Tahoma"/>
                          <a:cs typeface="Tahoma"/>
                        </a:rPr>
                        <a:t>(EPC)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Cloud-</a:t>
                      </a:r>
                      <a:r>
                        <a:rPr sz="800" spc="-25" dirty="0">
                          <a:latin typeface="Tahoma"/>
                          <a:cs typeface="Tahoma"/>
                        </a:rPr>
                        <a:t>na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82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60" dirty="0">
                          <a:latin typeface="Arial Black"/>
                          <a:cs typeface="Arial Black"/>
                        </a:rPr>
                        <a:t>Main</a:t>
                      </a:r>
                      <a:r>
                        <a:rPr sz="800" spc="1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800" spc="-10" dirty="0">
                          <a:latin typeface="Arial Black"/>
                          <a:cs typeface="Arial Black"/>
                        </a:rPr>
                        <a:t>Service</a:t>
                      </a:r>
                      <a:endParaRPr sz="800">
                        <a:latin typeface="Arial Black"/>
                        <a:cs typeface="Arial Black"/>
                      </a:endParaRPr>
                    </a:p>
                  </a:txBody>
                  <a:tcPr marL="0" marR="0" marT="63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Voice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Voice,</a:t>
                      </a:r>
                      <a:r>
                        <a:rPr sz="800" spc="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30" dirty="0">
                          <a:latin typeface="Tahoma"/>
                          <a:cs typeface="Tahoma"/>
                        </a:rPr>
                        <a:t>SMS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Internet,</a:t>
                      </a:r>
                      <a:r>
                        <a:rPr sz="8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latin typeface="Tahoma"/>
                          <a:cs typeface="Tahoma"/>
                        </a:rPr>
                        <a:t>Video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60" dirty="0">
                          <a:latin typeface="Tahoma"/>
                          <a:cs typeface="Tahoma"/>
                        </a:rPr>
                        <a:t>HD</a:t>
                      </a:r>
                      <a:r>
                        <a:rPr sz="800" spc="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latin typeface="Tahoma"/>
                          <a:cs typeface="Tahoma"/>
                        </a:rPr>
                        <a:t>Streaming,</a:t>
                      </a:r>
                      <a:r>
                        <a:rPr sz="800" spc="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latin typeface="Tahoma"/>
                          <a:cs typeface="Tahoma"/>
                        </a:rPr>
                        <a:t>VoLTE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dirty="0">
                          <a:latin typeface="Tahoma"/>
                          <a:cs typeface="Tahoma"/>
                        </a:rPr>
                        <a:t>IoT,</a:t>
                      </a:r>
                      <a:r>
                        <a:rPr sz="800" spc="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35" dirty="0">
                          <a:latin typeface="Tahoma"/>
                          <a:cs typeface="Tahoma"/>
                        </a:rPr>
                        <a:t>A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Md.</a:t>
            </a:r>
            <a:r>
              <a:rPr spc="110" dirty="0"/>
              <a:t> </a:t>
            </a:r>
            <a:r>
              <a:rPr dirty="0"/>
              <a:t>Ashikujjaman</a:t>
            </a:r>
            <a:r>
              <a:rPr spc="35" dirty="0"/>
              <a:t> </a:t>
            </a:r>
            <a:r>
              <a:rPr dirty="0"/>
              <a:t>Nur</a:t>
            </a:r>
            <a:r>
              <a:rPr spc="35" dirty="0"/>
              <a:t> </a:t>
            </a:r>
            <a:r>
              <a:rPr dirty="0"/>
              <a:t>(IT-</a:t>
            </a:r>
            <a:r>
              <a:rPr spc="-10" dirty="0"/>
              <a:t>21013)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963445" y="3105948"/>
            <a:ext cx="183324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latin typeface="Tahoma"/>
                <a:cs typeface="Tahoma"/>
                <a:hlinkClick r:id="rId2" action="ppaction://hlinksldjump"/>
              </a:rPr>
              <a:t>4G</a:t>
            </a:r>
            <a:r>
              <a:rPr sz="600" spc="40" dirty="0"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2" action="ppaction://hlinksldjump"/>
              </a:rPr>
              <a:t>(Long</a:t>
            </a:r>
            <a:r>
              <a:rPr sz="600" spc="40" dirty="0"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2" action="ppaction://hlinksldjump"/>
              </a:rPr>
              <a:t>Term</a:t>
            </a:r>
            <a:r>
              <a:rPr sz="600" spc="45" dirty="0"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2" action="ppaction://hlinksldjump"/>
              </a:rPr>
              <a:t>Evolution)</a:t>
            </a:r>
            <a:r>
              <a:rPr sz="600" spc="40" dirty="0"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2" action="ppaction://hlinksldjump"/>
              </a:rPr>
              <a:t>and</a:t>
            </a:r>
            <a:r>
              <a:rPr sz="600" spc="45" dirty="0"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2" action="ppaction://hlinksldjump"/>
              </a:rPr>
              <a:t>5G</a:t>
            </a:r>
            <a:r>
              <a:rPr sz="600" spc="40" dirty="0"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2" action="ppaction://hlinksldjump"/>
              </a:rPr>
              <a:t>(Fifth</a:t>
            </a:r>
            <a:r>
              <a:rPr sz="600" spc="45" dirty="0"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10" dirty="0">
                <a:latin typeface="Tahoma"/>
                <a:cs typeface="Tahoma"/>
                <a:hlinkClick r:id="rId2" action="ppaction://hlinksldjump"/>
              </a:rPr>
              <a:t>Generation)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November</a:t>
            </a:r>
            <a:r>
              <a:rPr spc="-25" dirty="0"/>
              <a:t> </a:t>
            </a:r>
            <a:r>
              <a:rPr dirty="0"/>
              <a:t>9,</a:t>
            </a:r>
            <a:r>
              <a:rPr spc="-20" dirty="0"/>
              <a:t> 2025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8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50" dirty="0"/>
              <a:t>9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7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Md.</a:t>
            </a:r>
            <a:r>
              <a:rPr spc="110" dirty="0"/>
              <a:t> </a:t>
            </a:r>
            <a:r>
              <a:rPr dirty="0"/>
              <a:t>Ashikujjaman</a:t>
            </a:r>
            <a:r>
              <a:rPr spc="35" dirty="0"/>
              <a:t> </a:t>
            </a:r>
            <a:r>
              <a:rPr dirty="0"/>
              <a:t>Nur</a:t>
            </a:r>
            <a:r>
              <a:rPr spc="35" dirty="0"/>
              <a:t> </a:t>
            </a:r>
            <a:r>
              <a:rPr dirty="0"/>
              <a:t>(IT-</a:t>
            </a:r>
            <a:r>
              <a:rPr spc="-10" dirty="0"/>
              <a:t>21013)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963445" y="3105948"/>
            <a:ext cx="183324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latin typeface="Tahoma"/>
                <a:cs typeface="Tahoma"/>
                <a:hlinkClick r:id="rId2" action="ppaction://hlinksldjump"/>
              </a:rPr>
              <a:t>4G</a:t>
            </a:r>
            <a:r>
              <a:rPr sz="600" spc="40" dirty="0"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2" action="ppaction://hlinksldjump"/>
              </a:rPr>
              <a:t>(Long</a:t>
            </a:r>
            <a:r>
              <a:rPr sz="600" spc="40" dirty="0"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2" action="ppaction://hlinksldjump"/>
              </a:rPr>
              <a:t>Term</a:t>
            </a:r>
            <a:r>
              <a:rPr sz="600" spc="45" dirty="0"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2" action="ppaction://hlinksldjump"/>
              </a:rPr>
              <a:t>Evolution)</a:t>
            </a:r>
            <a:r>
              <a:rPr sz="600" spc="40" dirty="0"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2" action="ppaction://hlinksldjump"/>
              </a:rPr>
              <a:t>and</a:t>
            </a:r>
            <a:r>
              <a:rPr sz="600" spc="45" dirty="0"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2" action="ppaction://hlinksldjump"/>
              </a:rPr>
              <a:t>5G</a:t>
            </a:r>
            <a:r>
              <a:rPr sz="600" spc="40" dirty="0"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2" action="ppaction://hlinksldjump"/>
              </a:rPr>
              <a:t>(Fifth</a:t>
            </a:r>
            <a:r>
              <a:rPr sz="600" spc="45" dirty="0"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10" dirty="0">
                <a:latin typeface="Tahoma"/>
                <a:cs typeface="Tahoma"/>
                <a:hlinkClick r:id="rId2" action="ppaction://hlinksldjump"/>
              </a:rPr>
              <a:t>Generation)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November</a:t>
            </a:r>
            <a:r>
              <a:rPr spc="-25" dirty="0"/>
              <a:t> </a:t>
            </a:r>
            <a:r>
              <a:rPr dirty="0"/>
              <a:t>9,</a:t>
            </a:r>
            <a:r>
              <a:rPr spc="-20" dirty="0"/>
              <a:t> 2025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9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50" dirty="0"/>
              <a:t>9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C1778508-DDBA-B834-DC62-E7022E237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59877"/>
            <a:ext cx="4190365" cy="215444"/>
          </a:xfrm>
        </p:spPr>
        <p:txBody>
          <a:bodyPr/>
          <a:lstStyle/>
          <a:p>
            <a:r>
              <a:rPr lang="en-US" dirty="0"/>
              <a:t>How Cellular Network Works?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024CF-26BA-6375-D12E-4E2E6ABE3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688179A-FCCA-0E1F-4E93-451C25D39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8058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70" dirty="0"/>
              <a:t>Takeaways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FAFE601-112C-F6B0-15CF-3D797679633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90930"/>
            <a:ext cx="65265" cy="65265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6F02E9A0-201E-E31C-061C-546EAF6E79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467995">
              <a:lnSpc>
                <a:spcPct val="102600"/>
              </a:lnSpc>
              <a:spcBef>
                <a:spcPts val="55"/>
              </a:spcBef>
            </a:pPr>
            <a:r>
              <a:rPr spc="-140" dirty="0">
                <a:latin typeface="Arial Black"/>
                <a:cs typeface="Arial Black"/>
              </a:rPr>
              <a:t>4G</a:t>
            </a:r>
            <a:r>
              <a:rPr spc="30" dirty="0">
                <a:latin typeface="Arial Black"/>
                <a:cs typeface="Arial Black"/>
              </a:rPr>
              <a:t> </a:t>
            </a:r>
            <a:r>
              <a:rPr spc="-90" dirty="0">
                <a:latin typeface="Arial Black"/>
                <a:cs typeface="Arial Black"/>
              </a:rPr>
              <a:t>(Long</a:t>
            </a:r>
            <a:r>
              <a:rPr spc="-5" dirty="0">
                <a:latin typeface="Arial Black"/>
                <a:cs typeface="Arial Black"/>
              </a:rPr>
              <a:t> </a:t>
            </a:r>
            <a:r>
              <a:rPr spc="-135" dirty="0">
                <a:latin typeface="Arial Black"/>
                <a:cs typeface="Arial Black"/>
              </a:rPr>
              <a:t>Term</a:t>
            </a:r>
            <a:r>
              <a:rPr spc="30" dirty="0">
                <a:latin typeface="Arial Black"/>
                <a:cs typeface="Arial Black"/>
              </a:rPr>
              <a:t> </a:t>
            </a:r>
            <a:r>
              <a:rPr spc="-114" dirty="0">
                <a:latin typeface="Arial Black"/>
                <a:cs typeface="Arial Black"/>
              </a:rPr>
              <a:t>Evolution</a:t>
            </a:r>
            <a:r>
              <a:rPr spc="25" dirty="0">
                <a:latin typeface="Arial Black"/>
                <a:cs typeface="Arial Black"/>
              </a:rPr>
              <a:t> </a:t>
            </a:r>
            <a:r>
              <a:rPr dirty="0">
                <a:latin typeface="Arial Black"/>
                <a:cs typeface="Arial Black"/>
              </a:rPr>
              <a:t>-</a:t>
            </a:r>
            <a:r>
              <a:rPr spc="-50" dirty="0">
                <a:latin typeface="Arial Black"/>
                <a:cs typeface="Arial Black"/>
              </a:rPr>
              <a:t> </a:t>
            </a:r>
            <a:r>
              <a:rPr spc="-70" dirty="0">
                <a:latin typeface="Arial Black"/>
                <a:cs typeface="Arial Black"/>
              </a:rPr>
              <a:t>LTE)</a:t>
            </a:r>
            <a:r>
              <a:rPr spc="-20" dirty="0">
                <a:latin typeface="Arial Black"/>
                <a:cs typeface="Arial Black"/>
              </a:rPr>
              <a:t> </a:t>
            </a:r>
            <a:r>
              <a:rPr spc="-60" dirty="0"/>
              <a:t>enabled</a:t>
            </a:r>
            <a:r>
              <a:rPr spc="-5" dirty="0"/>
              <a:t> </a:t>
            </a:r>
            <a:r>
              <a:rPr spc="-10" dirty="0"/>
              <a:t>true</a:t>
            </a:r>
            <a:r>
              <a:rPr dirty="0"/>
              <a:t> </a:t>
            </a:r>
            <a:r>
              <a:rPr spc="-30" dirty="0"/>
              <a:t>mobile</a:t>
            </a:r>
            <a:r>
              <a:rPr dirty="0"/>
              <a:t> </a:t>
            </a:r>
            <a:r>
              <a:rPr spc="-55" dirty="0"/>
              <a:t>broadband</a:t>
            </a:r>
            <a:r>
              <a:rPr spc="-5" dirty="0"/>
              <a:t> </a:t>
            </a:r>
            <a:r>
              <a:rPr dirty="0"/>
              <a:t>with</a:t>
            </a:r>
            <a:r>
              <a:rPr spc="-5" dirty="0"/>
              <a:t> </a:t>
            </a:r>
            <a:r>
              <a:rPr spc="-25" dirty="0"/>
              <a:t>all-IP </a:t>
            </a:r>
            <a:r>
              <a:rPr spc="-10" dirty="0"/>
              <a:t>architecture.</a:t>
            </a:r>
          </a:p>
          <a:p>
            <a:pPr marL="12700" marR="234315">
              <a:lnSpc>
                <a:spcPct val="102600"/>
              </a:lnSpc>
              <a:spcBef>
                <a:spcPts val="300"/>
              </a:spcBef>
            </a:pPr>
            <a:r>
              <a:rPr spc="-140" dirty="0">
                <a:latin typeface="Arial Black"/>
                <a:cs typeface="Arial Black"/>
              </a:rPr>
              <a:t>5G</a:t>
            </a:r>
            <a:r>
              <a:rPr spc="30" dirty="0">
                <a:latin typeface="Arial Black"/>
                <a:cs typeface="Arial Black"/>
              </a:rPr>
              <a:t> </a:t>
            </a:r>
            <a:r>
              <a:rPr spc="-55" dirty="0">
                <a:latin typeface="Arial Black"/>
                <a:cs typeface="Arial Black"/>
              </a:rPr>
              <a:t>(Fifth</a:t>
            </a:r>
            <a:r>
              <a:rPr spc="-40" dirty="0">
                <a:latin typeface="Arial Black"/>
                <a:cs typeface="Arial Black"/>
              </a:rPr>
              <a:t> </a:t>
            </a:r>
            <a:r>
              <a:rPr spc="-114" dirty="0">
                <a:latin typeface="Arial Black"/>
                <a:cs typeface="Arial Black"/>
              </a:rPr>
              <a:t>Generation)</a:t>
            </a:r>
            <a:r>
              <a:rPr spc="-5" dirty="0">
                <a:latin typeface="Arial Black"/>
                <a:cs typeface="Arial Black"/>
              </a:rPr>
              <a:t> </a:t>
            </a:r>
            <a:r>
              <a:rPr spc="-25" dirty="0"/>
              <a:t>builds</a:t>
            </a:r>
            <a:r>
              <a:rPr spc="-60" dirty="0"/>
              <a:t> </a:t>
            </a:r>
            <a:r>
              <a:rPr spc="-20" dirty="0"/>
              <a:t>on </a:t>
            </a:r>
            <a:r>
              <a:rPr dirty="0"/>
              <a:t>4G</a:t>
            </a:r>
            <a:r>
              <a:rPr spc="-15" dirty="0"/>
              <a:t> </a:t>
            </a:r>
            <a:r>
              <a:rPr spc="-35" dirty="0"/>
              <a:t>by</a:t>
            </a:r>
            <a:r>
              <a:rPr spc="-20" dirty="0"/>
              <a:t> </a:t>
            </a:r>
            <a:r>
              <a:rPr spc="-40" dirty="0"/>
              <a:t>offering</a:t>
            </a:r>
            <a:r>
              <a:rPr spc="-20" dirty="0"/>
              <a:t> </a:t>
            </a:r>
            <a:r>
              <a:rPr spc="-40" dirty="0"/>
              <a:t>ultra-</a:t>
            </a:r>
            <a:r>
              <a:rPr spc="-20" dirty="0"/>
              <a:t>high</a:t>
            </a:r>
            <a:r>
              <a:rPr spc="-15" dirty="0"/>
              <a:t> </a:t>
            </a:r>
            <a:r>
              <a:rPr spc="-65" dirty="0"/>
              <a:t>speed,</a:t>
            </a:r>
            <a:r>
              <a:rPr spc="-15" dirty="0"/>
              <a:t> </a:t>
            </a:r>
            <a:r>
              <a:rPr spc="-35" dirty="0"/>
              <a:t>low</a:t>
            </a:r>
            <a:r>
              <a:rPr spc="-20" dirty="0"/>
              <a:t> </a:t>
            </a:r>
            <a:r>
              <a:rPr spc="-40" dirty="0"/>
              <a:t>latency,</a:t>
            </a:r>
            <a:r>
              <a:rPr spc="-15" dirty="0"/>
              <a:t> </a:t>
            </a:r>
            <a:r>
              <a:rPr spc="-25" dirty="0"/>
              <a:t>and </a:t>
            </a:r>
            <a:r>
              <a:rPr spc="-55" dirty="0"/>
              <a:t>massive</a:t>
            </a:r>
            <a:r>
              <a:rPr spc="20" dirty="0"/>
              <a:t> </a:t>
            </a:r>
            <a:r>
              <a:rPr spc="-10" dirty="0"/>
              <a:t>connectivity.</a:t>
            </a: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pc="-20" dirty="0"/>
              <a:t>Cellular</a:t>
            </a:r>
            <a:r>
              <a:rPr spc="-45" dirty="0"/>
              <a:t> </a:t>
            </a:r>
            <a:r>
              <a:rPr spc="-55" dirty="0"/>
              <a:t>networks</a:t>
            </a:r>
            <a:r>
              <a:rPr spc="-30" dirty="0"/>
              <a:t> </a:t>
            </a:r>
            <a:r>
              <a:rPr spc="-55" dirty="0"/>
              <a:t>have</a:t>
            </a:r>
            <a:r>
              <a:rPr spc="-35" dirty="0"/>
              <a:t> </a:t>
            </a:r>
            <a:r>
              <a:rPr spc="-50" dirty="0"/>
              <a:t>evolved</a:t>
            </a:r>
            <a:r>
              <a:rPr spc="-35" dirty="0"/>
              <a:t> </a:t>
            </a:r>
            <a:r>
              <a:rPr spc="-20" dirty="0"/>
              <a:t>from</a:t>
            </a:r>
            <a:r>
              <a:rPr spc="-35" dirty="0"/>
              <a:t> </a:t>
            </a:r>
            <a:r>
              <a:rPr spc="-40" dirty="0"/>
              <a:t>analog</a:t>
            </a:r>
            <a:r>
              <a:rPr spc="-35" dirty="0"/>
              <a:t> </a:t>
            </a:r>
            <a:r>
              <a:rPr spc="-30" dirty="0"/>
              <a:t>voice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spc="-10" dirty="0"/>
              <a:t>digital</a:t>
            </a:r>
            <a:r>
              <a:rPr spc="-35" dirty="0"/>
              <a:t> </a:t>
            </a:r>
            <a:r>
              <a:rPr spc="-50" dirty="0"/>
              <a:t>ecosystem</a:t>
            </a:r>
            <a:r>
              <a:rPr spc="-35" dirty="0"/>
              <a:t> </a:t>
            </a:r>
            <a:r>
              <a:rPr spc="-40" dirty="0"/>
              <a:t>enabling</a:t>
            </a:r>
            <a:r>
              <a:rPr spc="-35" dirty="0"/>
              <a:t> </a:t>
            </a:r>
            <a:r>
              <a:rPr spc="-10" dirty="0"/>
              <a:t>smart cities</a:t>
            </a:r>
            <a:r>
              <a:rPr spc="-60" dirty="0"/>
              <a:t> </a:t>
            </a:r>
            <a:r>
              <a:rPr spc="-40" dirty="0"/>
              <a:t>and</a:t>
            </a:r>
            <a:r>
              <a:rPr spc="-45" dirty="0"/>
              <a:t> </a:t>
            </a:r>
            <a:r>
              <a:rPr spc="-10" dirty="0"/>
              <a:t>industries.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pc="-10" dirty="0"/>
          </a:p>
          <a:p>
            <a:pPr marR="114300" algn="ctr">
              <a:lnSpc>
                <a:spcPct val="100000"/>
              </a:lnSpc>
            </a:pPr>
            <a:r>
              <a:rPr i="1" dirty="0">
                <a:latin typeface="Arial"/>
                <a:cs typeface="Arial"/>
              </a:rPr>
              <a:t>“The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future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is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70" dirty="0">
                <a:latin typeface="Arial"/>
                <a:cs typeface="Arial"/>
              </a:rPr>
              <a:t>wireless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—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45" dirty="0">
                <a:latin typeface="Arial"/>
                <a:cs typeface="Arial"/>
              </a:rPr>
              <a:t>and</a:t>
            </a:r>
            <a:r>
              <a:rPr i="1" spc="1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it’s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45" dirty="0">
                <a:latin typeface="Arial"/>
                <a:cs typeface="Arial"/>
              </a:rPr>
              <a:t>already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here.”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45E03F92-CA14-D9A6-E716-40F45089198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73047"/>
            <a:ext cx="65265" cy="65265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BDB7454D-94D3-6BCD-BFD9-8A393C8B079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55152"/>
            <a:ext cx="65265" cy="65265"/>
          </a:xfrm>
          <a:prstGeom prst="rect">
            <a:avLst/>
          </a:prstGeom>
        </p:spPr>
      </p:pic>
      <p:grpSp>
        <p:nvGrpSpPr>
          <p:cNvPr id="7" name="object 7">
            <a:extLst>
              <a:ext uri="{FF2B5EF4-FFF2-40B4-BE49-F238E27FC236}">
                <a16:creationId xmlns:a16="http://schemas.microsoft.com/office/drawing/2014/main" id="{CD2080FB-928F-D8BD-410F-4CC125031AC7}"/>
              </a:ext>
            </a:extLst>
          </p:cNvPr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BC9E72A0-455A-F03C-2652-2F62D4D8D444}"/>
                </a:ext>
              </a:extLst>
            </p:cNvPr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47338B81-82C2-057F-7ABB-D14867FD4077}"/>
                </a:ext>
              </a:extLst>
            </p:cNvPr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B342E701-5D48-1ABC-5F5C-013EA7063E58}"/>
                </a:ext>
              </a:extLst>
            </p:cNvPr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>
            <a:extLst>
              <a:ext uri="{FF2B5EF4-FFF2-40B4-BE49-F238E27FC236}">
                <a16:creationId xmlns:a16="http://schemas.microsoft.com/office/drawing/2014/main" id="{B51E0DC6-AA9C-20EB-B23C-4A32367F69C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Md.</a:t>
            </a:r>
            <a:r>
              <a:rPr spc="110" dirty="0"/>
              <a:t> </a:t>
            </a:r>
            <a:r>
              <a:rPr dirty="0"/>
              <a:t>Ashikujjaman</a:t>
            </a:r>
            <a:r>
              <a:rPr spc="35" dirty="0"/>
              <a:t> </a:t>
            </a:r>
            <a:r>
              <a:rPr dirty="0"/>
              <a:t>Nur</a:t>
            </a:r>
            <a:r>
              <a:rPr spc="35" dirty="0"/>
              <a:t> </a:t>
            </a:r>
            <a:r>
              <a:rPr dirty="0"/>
              <a:t>(IT-</a:t>
            </a:r>
            <a:r>
              <a:rPr spc="-10" dirty="0"/>
              <a:t>21013)</a:t>
            </a: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4C08BEBC-1EA4-A3BE-9C82-57301650E020}"/>
              </a:ext>
            </a:extLst>
          </p:cNvPr>
          <p:cNvSpPr txBox="1"/>
          <p:nvPr/>
        </p:nvSpPr>
        <p:spPr>
          <a:xfrm>
            <a:off x="1963445" y="3105948"/>
            <a:ext cx="183324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latin typeface="Tahoma"/>
                <a:cs typeface="Tahoma"/>
                <a:hlinkClick r:id="rId5" action="ppaction://hlinksldjump"/>
              </a:rPr>
              <a:t>4G</a:t>
            </a:r>
            <a:r>
              <a:rPr sz="600" spc="40" dirty="0">
                <a:latin typeface="Tahoma"/>
                <a:cs typeface="Tahoma"/>
                <a:hlinkClick r:id="rId5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5" action="ppaction://hlinksldjump"/>
              </a:rPr>
              <a:t>(Long</a:t>
            </a:r>
            <a:r>
              <a:rPr sz="600" spc="40" dirty="0">
                <a:latin typeface="Tahoma"/>
                <a:cs typeface="Tahoma"/>
                <a:hlinkClick r:id="rId5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5" action="ppaction://hlinksldjump"/>
              </a:rPr>
              <a:t>Term</a:t>
            </a:r>
            <a:r>
              <a:rPr sz="600" spc="45" dirty="0">
                <a:latin typeface="Tahoma"/>
                <a:cs typeface="Tahoma"/>
                <a:hlinkClick r:id="rId5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5" action="ppaction://hlinksldjump"/>
              </a:rPr>
              <a:t>Evolution)</a:t>
            </a:r>
            <a:r>
              <a:rPr sz="600" spc="40" dirty="0">
                <a:latin typeface="Tahoma"/>
                <a:cs typeface="Tahoma"/>
                <a:hlinkClick r:id="rId5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5" action="ppaction://hlinksldjump"/>
              </a:rPr>
              <a:t>and</a:t>
            </a:r>
            <a:r>
              <a:rPr sz="600" spc="45" dirty="0">
                <a:latin typeface="Tahoma"/>
                <a:cs typeface="Tahoma"/>
                <a:hlinkClick r:id="rId5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5" action="ppaction://hlinksldjump"/>
              </a:rPr>
              <a:t>5G</a:t>
            </a:r>
            <a:r>
              <a:rPr sz="600" spc="40" dirty="0">
                <a:latin typeface="Tahoma"/>
                <a:cs typeface="Tahoma"/>
                <a:hlinkClick r:id="rId5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5" action="ppaction://hlinksldjump"/>
              </a:rPr>
              <a:t>(Fifth</a:t>
            </a:r>
            <a:r>
              <a:rPr sz="600" spc="45" dirty="0">
                <a:latin typeface="Tahoma"/>
                <a:cs typeface="Tahoma"/>
                <a:hlinkClick r:id="rId5" action="ppaction://hlinksldjump"/>
              </a:rPr>
              <a:t> </a:t>
            </a:r>
            <a:r>
              <a:rPr sz="600" spc="-10" dirty="0">
                <a:latin typeface="Tahoma"/>
                <a:cs typeface="Tahoma"/>
                <a:hlinkClick r:id="rId5" action="ppaction://hlinksldjump"/>
              </a:rPr>
              <a:t>Generation)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5652C639-D173-E482-BCAB-303C2731F72C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November</a:t>
            </a:r>
            <a:r>
              <a:rPr spc="-25" dirty="0"/>
              <a:t> </a:t>
            </a:r>
            <a:r>
              <a:rPr dirty="0"/>
              <a:t>9,</a:t>
            </a:r>
            <a:r>
              <a:rPr spc="-20" dirty="0"/>
              <a:t> 2025</a:t>
            </a: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401FBE6C-ED95-F9BE-C4B9-DB3D677D659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10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5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542433639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Words>959</Words>
  <Application>Microsoft Office PowerPoint</Application>
  <PresentationFormat>Custom</PresentationFormat>
  <Paragraphs>150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Tahoma</vt:lpstr>
      <vt:lpstr>Office Theme</vt:lpstr>
      <vt:lpstr>Cellular Networks: 4G (Long Term Evolution) and 5G (Fifth Generation) Course: Wireless and Mobile Communication</vt:lpstr>
      <vt:lpstr>What are Cellular Networks?</vt:lpstr>
      <vt:lpstr>4G (Long Term Evolution - LTE) at a Glance</vt:lpstr>
      <vt:lpstr>How 4G (LTE) Works</vt:lpstr>
      <vt:lpstr>5G (Fifth Generation): Designed for a Connected World</vt:lpstr>
      <vt:lpstr>5G Key Technologies</vt:lpstr>
      <vt:lpstr>Applications of 4G and 5G</vt:lpstr>
      <vt:lpstr>PowerPoint Presentation</vt:lpstr>
      <vt:lpstr>How Cellular Network Works?</vt:lpstr>
      <vt:lpstr>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Cellular Networks: 4G (Long Term Evolution) and 5G (Fifth Generation) - Course: Wireless and Mobile Communication</dc:title>
  <dc:creator>Md. Ashikujjaman Nur (IT-21013)</dc:creator>
  <cp:lastModifiedBy>md ashikujjaman nur</cp:lastModifiedBy>
  <cp:revision>1</cp:revision>
  <dcterms:created xsi:type="dcterms:W3CDTF">2025-11-09T07:41:42Z</dcterms:created>
  <dcterms:modified xsi:type="dcterms:W3CDTF">2025-11-09T08:23:05Z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2025-11-09T00:00:00Z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2025-11-09T00:00:00Z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